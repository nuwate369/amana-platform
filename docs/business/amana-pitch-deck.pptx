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4A22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a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855" y="685800"/>
            <a:ext cx="1143000" cy="1143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48840"/>
            <a:ext cx="8899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F7EFDE"/>
                </a:solidFill>
                <a:latin typeface="Arial"/>
              </a:rPr>
              <a:t>منصّة التنقّل النسائي الذكية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88998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6400" b="1">
                <a:solidFill>
                  <a:srgbClr val="FFFFFF"/>
                </a:solidFill>
                <a:latin typeface="Arial"/>
              </a:rPr>
              <a:t>أمانة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8899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D8C7EA"/>
                </a:solidFill>
                <a:latin typeface="Arial"/>
              </a:rPr>
              <a:t>دراسة جدوى متكاملة · مشروع ريادي مبتكر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1">
                <a:solidFill>
                  <a:srgbClr val="A8792F"/>
                </a:solidFill>
                <a:latin typeface="Arial"/>
              </a:rPr>
              <a:t>مقدَّمة إلى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جامعة القصيم — مركز الابتكار والملكية الفكرية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0">
                <a:solidFill>
                  <a:srgbClr val="C9B6DE"/>
                </a:solidFill>
                <a:latin typeface="Arial"/>
              </a:rPr>
              <a:t>م. مدني كمال مدني حميدة   ·   م. عصمت عمر إبراهيم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4175" y="53949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400" b="1">
                <a:solidFill>
                  <a:srgbClr val="F7EFDE"/>
                </a:solidFill>
                <a:latin typeface="Arial"/>
              </a:rPr>
              <a:t>يوليو 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سوق قائم بلا حلّ مخصَّص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الفرصة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المرأة في المملكة تتنقّل يوميًّا عبر تطبيقات لم تُصمَّم لها، فتدفع ثمن ذلك راحةً وأمانًا وخصوصية.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2860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9415" y="2542032"/>
            <a:ext cx="54864" cy="136245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25420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الخصوصية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383280"/>
            <a:ext cx="27432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غالبية السائقين رجال، والرحلة اليومية تتحوّل إلى مصدر توتّر متكرّر لا خيار فيه.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2860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08975" y="2542032"/>
            <a:ext cx="54864" cy="136245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5420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الأمان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383280"/>
            <a:ext cx="27432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لا أدوات سلامة مصمَّمة للمرأة: لا مرافقة أطفال، ولا مجموعات مغلقة، ولا تحقّق مزدوج.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2286000"/>
            <a:ext cx="32461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6" y="2542032"/>
            <a:ext cx="54864" cy="136245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254203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9992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التمكين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383280"/>
            <a:ext cx="2743200" cy="6126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آلاف السعوديات يبحثن عن دخل مرن؛ قيادة المرأة فتحت الباب ولم يفتح أحد السوق.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526280"/>
            <a:ext cx="10287000" cy="960120"/>
          </a:xfrm>
          <a:prstGeom prst="roundRect">
            <a:avLst>
              <a:gd name="adj" fmla="val 8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828032"/>
            <a:ext cx="9738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A8792F"/>
                </a:solidFill>
                <a:latin typeface="Arial"/>
              </a:rPr>
              <a:t>الفجوة: لا يوجد في السوق السعودي تطبيق نقل نسائي بالكامل — من الراكبة إلى السائقة إلى فريق الدعم.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سوق ينمو ١٣٪ سنويًّا — ونصفه بلا خدمة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حجم السوق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قطاع طلب سيارات الأجرة في المملكة، وأرقام الطلب النسائي التي تثبت جاهزية السوق.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3823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43823" y="2286000"/>
            <a:ext cx="2395728" cy="64008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3823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>
                <a:solidFill>
                  <a:srgbClr val="5B2C87"/>
                </a:solidFill>
                <a:latin typeface="Arial"/>
              </a:rPr>
              <a:t>١٫٩ مليار 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3823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حجم السوق ٢٠٢٥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6071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6071" y="2286000"/>
            <a:ext cx="2395728" cy="64008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071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>
                <a:solidFill>
                  <a:srgbClr val="5B2C87"/>
                </a:solidFill>
                <a:latin typeface="Arial"/>
              </a:rPr>
              <a:t>٥٫٦ مليار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6071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المتوقَّع ٢٠٣٤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8319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68319" y="2286000"/>
            <a:ext cx="2395728" cy="64008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68319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>
                <a:solidFill>
                  <a:srgbClr val="A8792F"/>
                </a:solidFill>
                <a:latin typeface="Arial"/>
              </a:rPr>
              <a:t>١٣٫٠٣٪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8319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نموّ سنوي مركّب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567" y="228600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0567" y="2286000"/>
            <a:ext cx="2395728" cy="64008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0567" y="2578608"/>
            <a:ext cx="23957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200" b="1">
                <a:solidFill>
                  <a:srgbClr val="A8792F"/>
                </a:solidFill>
                <a:latin typeface="Arial"/>
              </a:rPr>
              <a:t>٥٤٫٢٦٪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" y="3127248"/>
            <a:ext cx="239572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نموّ الرحلات سنويًّا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886200"/>
            <a:ext cx="10287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5B2C87"/>
                </a:solidFill>
                <a:latin typeface="Arial"/>
              </a:rPr>
              <a:t>الجمهور المستهدف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297680"/>
            <a:ext cx="1028700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439826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الشريحة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398264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الحجم التقريبي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398264"/>
            <a:ext cx="5541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دافع الاستخدام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6567" y="4791456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الموظفات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4791456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١٫٥ مليون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791456"/>
            <a:ext cx="5541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تنقّل يومي للعمل يتطلّب خصوصية وانتظامًا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5102352"/>
            <a:ext cx="10287000" cy="402336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5193792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ربّات المنازل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5193792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٤ ملايين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5193792"/>
            <a:ext cx="5541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المجمّعات والزيارات العائلية والمستشفيات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6567" y="5596128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الطالبات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5596128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١٫٢ مليون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7008" y="5596128"/>
            <a:ext cx="5541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الجامعات والكلّيات والمعاهد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5907024"/>
            <a:ext cx="10287000" cy="402336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16567" y="5998464"/>
            <a:ext cx="21579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الزائرات والسائحات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5998464"/>
            <a:ext cx="19293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١٠ ملايين سنويًّا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5998464"/>
            <a:ext cx="5541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استكشاف معالم المدن بخدمة نسائية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7EFDE"/>
                </a:solidFill>
                <a:latin typeface="Arial"/>
              </a:rPr>
              <a:t>الحلّ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منظومة تنقّل نسائية</a:t>
            </a:r>
          </a:p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مدعومة بالذكاء الاصطناعي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00" b="0">
                <a:solidFill>
                  <a:srgbClr val="DCCDEC"/>
                </a:solidFill>
                <a:latin typeface="Arial"/>
              </a:rPr>
              <a:t>ليست تطبيق نقل فحسب — بل بيئة كاملة صُمّمت حول أمان المرأة وخصوصيتها وتمكينها اقتصاديًّا.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841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00" b="1">
                <a:solidFill>
                  <a:srgbClr val="F7EFDE"/>
                </a:solidFill>
                <a:latin typeface="Arial"/>
              </a:rPr>
              <a:t>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841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تطبيقات متكاملة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237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00" b="1">
                <a:solidFill>
                  <a:srgbClr val="F7EFDE"/>
                </a:solidFill>
                <a:latin typeface="Arial"/>
              </a:rPr>
              <a:t>١٠٠٪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237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نسائية بالكامل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633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00" b="1">
                <a:solidFill>
                  <a:srgbClr val="F7EFDE"/>
                </a:solidFill>
                <a:latin typeface="Arial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633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ذكاء اصطناعي مدمج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295" y="46177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000" b="1">
                <a:solidFill>
                  <a:srgbClr val="F7EFDE"/>
                </a:solidFill>
                <a:latin typeface="Arial"/>
              </a:rPr>
              <a:t>جاهز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" y="5230368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D2C0E6"/>
                </a:solidFill>
                <a:latin typeface="Arial"/>
              </a:rPr>
              <a:t>نموذج أوّلي يعمل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ثماني مزايا لا يملكها أيّ منافس مجتمعة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الميزة التنافسية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كل ميزة تحلّ مشكلة حقيقية، وأربع منها غير موجودة في السوق السعودي إطلاقًا.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3823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84687" y="2542032"/>
            <a:ext cx="54864" cy="122529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72423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2423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مساعد السفر الذكي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2423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يقترح وجهات بناءً على اهتمامات الراكبة وتاريخ رحلاتها.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6071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6935" y="2542032"/>
            <a:ext cx="54864" cy="122529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4671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671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التسعير الديناميكي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671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سعر شفّاف يعكس الطلب لحظيًّا، ويُعرض قبل التأكيد.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8319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9183" y="2542032"/>
            <a:ext cx="54864" cy="122529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6919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6919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البصمة الكربونية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6919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حساب التوفير في الانبعاثات ومكافآت خضراء للراكبات.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567" y="228600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21431" y="2542032"/>
            <a:ext cx="54864" cy="122529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9167" y="254203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🛡️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" y="299923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التقييم المزدوج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" y="338328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تقييم الراكبة والسائقة معًا — حماية متبادلة ترفع الجودة.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3823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84687" y="4416552"/>
            <a:ext cx="54864" cy="1225295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2423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👩‍👧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2423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مرافقة الأطفال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72423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سائقات مدرَّبات على تركيب مقاعد الأطفال — لا يقدّمها منافس.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6071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96935" y="4416552"/>
            <a:ext cx="54864" cy="1225295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4671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4671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المجموعات المغلقة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4671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رحلات تشاركية خاصّة بين زميلات العمل أو الدراسة.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68319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09183" y="4416552"/>
            <a:ext cx="54864" cy="1225295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6919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96919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النقل التشاركي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6919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مشاركة التكلفة بين الراكبات — خفض يصل إلى ٦٠٪.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567" y="4160520"/>
            <a:ext cx="23957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21431" y="4416552"/>
            <a:ext cx="54864" cy="1225295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9167" y="4416552"/>
            <a:ext cx="1709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🗺️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167" y="4873752"/>
            <a:ext cx="1892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الرحلات السياحية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" y="5257800"/>
            <a:ext cx="1892808" cy="475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مسارات معدّة لاستكشاف معالم المدن — شريحة الزائرات.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لا أحد يجمع التخصّص والابتكار معًا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المنافسة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المنافس النسائي الحالي يفتقر للابتكار، والمنافس المبتكر ليس نسائيًّا بالكامل.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1028700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847" y="2386584"/>
            <a:ext cx="2203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المنافس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647" y="2386584"/>
            <a:ext cx="1380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الحصّة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7" y="238658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نقطة القوّة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7" y="2386584"/>
            <a:ext cx="24780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نقطة الضعف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386584"/>
            <a:ext cx="649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التهديد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7" y="2843784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وصليني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7" y="2843784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~١٥٪ نسائيًّا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7" y="2843784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أوّل تطبيق نسائي، ٦٠ مدينة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7" y="2843784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بلا ذكاء اصطناعي ولا استدامة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843784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متوسّط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218688"/>
            <a:ext cx="10287000" cy="530352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7" y="3374136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مريني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7" y="3374136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~١٠٪ نسائيًّا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7" y="3374136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تركيز على الخصوصية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5687" y="3374136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مرحلة تطوير، تركيز ضيّق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374136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منخفض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7" y="3904487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أوبر «سائقات»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7" y="3904487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~٥٪ من أوبر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7" y="3904487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علامة عالمية وشبكة ضخمة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5687" y="3904487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خدمة عامّة لا منصّة نسائية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3904487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مرتفع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279392"/>
            <a:ext cx="10287000" cy="530352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0847" y="4434840"/>
            <a:ext cx="2203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كريم · جيني وغيرهما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7" y="4434840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~٧٠٪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7" y="4434840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تغطية وأسعار تنافسية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5687" y="4434840"/>
            <a:ext cx="24780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لا خدمة نسائية حصرية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434840"/>
            <a:ext cx="64922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منخفض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074920"/>
            <a:ext cx="10287000" cy="914400"/>
          </a:xfrm>
          <a:prstGeom prst="roundRect">
            <a:avLst>
              <a:gd name="adj" fmla="val 8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5257800"/>
            <a:ext cx="9738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A8792F"/>
                </a:solidFill>
                <a:latin typeface="Arial"/>
              </a:rPr>
              <a:t>استراتيجية التفوّق: مزايا حصرية يصعب تقليدها (مرافقة الأطفال، البصمة الكربونية، المجموعات المغلقة)</a:t>
            </a:r>
          </a:p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A8792F"/>
                </a:solidFill>
                <a:latin typeface="Arial"/>
              </a:rPr>
              <a:t>مع توسّع سريع في المدن الرئيسية قبل أن يتحرّك اللاعبون الكبار.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فرضيات النموّ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أساس الحساب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كل رقم في هذا العرض مشتقّ من هذه الفرضيات — تغييرها يغيّر النتائج بالتناسب.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31720"/>
            <a:ext cx="1028700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2432303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المؤشّر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79007" y="2432303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١ — الإطلاق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7" y="2432303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٢ — النموّ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432303"/>
            <a:ext cx="206654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السنة ٣ — التوسّع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7" y="2862072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المدن المغطّاة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7" y="2862072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١ (بريدة)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7" y="2862072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2862072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٥ – 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9544"/>
            <a:ext cx="10287000" cy="47548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3337560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مستخدمات نشطات شهريًّا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7" y="3337560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٥٬٠٠٠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7" y="3337560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٣٥٬٠٠٠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337560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١٢٠٬٠٠٠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7" y="3813047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سائقات نشطات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7" y="3813047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١٥٠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3007" y="3813047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١٬٢٠٠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813047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٤٬٠٠٠+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4160519"/>
            <a:ext cx="10287000" cy="47548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5007" y="4288535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الرحلات سنويًّا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7" y="4288535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٢٠ – ٢٥ ألف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7" y="4288535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٢٠٠ – ٢٥٠ ألف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4288535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٧٠٠ – ٨٠٠ ألف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4764023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16101F"/>
                </a:solidFill>
                <a:latin typeface="Arial"/>
              </a:rPr>
              <a:t>متوسّط قيمة الرحلة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7" y="4764023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٣٠ ريال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3007" y="4764023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٣٠ ريال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7" y="4764023"/>
            <a:ext cx="20665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٣٠ ريال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120640"/>
            <a:ext cx="10287000" cy="777240"/>
          </a:xfrm>
          <a:prstGeom prst="roundRect">
            <a:avLst>
              <a:gd name="adj" fmla="val 1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5376672"/>
            <a:ext cx="9738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5B2C87"/>
                </a:solidFill>
                <a:latin typeface="Arial"/>
              </a:rPr>
              <a:t>الإطلاق من بريدة بدعم حاضنة جامعة القصيم، ثمّ التوسّع إلى الرياض وجدة والدمام في السنة الثانية.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التكلفة التقنية لكل رحلة تنخفض ٩٥٪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الأطروحة الاستثمارية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فريق ثابت من ٨ أفراد وبنية سحابية مُدارة يخدمان ٢٠ ألف رحلة أو ٨٠٠ ألف رحلة بالهيكل نفسه.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02880" y="2514600"/>
            <a:ext cx="2255520" cy="2240280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02880" y="2130552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5B2C87"/>
                </a:solidFill>
                <a:latin typeface="Arial"/>
              </a:rPr>
              <a:t>40 ر.س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880" y="4882896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السنة ١</a:t>
            </a:r>
          </a:p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~٢٢ ألف رحلة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0160" y="4474845"/>
            <a:ext cx="2255520" cy="28003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0160" y="4090797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5B2C87"/>
                </a:solidFill>
                <a:latin typeface="Arial"/>
              </a:rPr>
              <a:t>5 ر.س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0160" y="4882896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السنة ٢</a:t>
            </a:r>
          </a:p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~٢٢٥ ألف رحلة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39" y="4642866"/>
            <a:ext cx="2255520" cy="112014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39" y="4258818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>
                <a:solidFill>
                  <a:srgbClr val="A8792F"/>
                </a:solidFill>
                <a:latin typeface="Arial"/>
              </a:rPr>
              <a:t>2 ر.س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39" y="4882896"/>
            <a:ext cx="225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السنة ٣</a:t>
            </a:r>
          </a:p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~٧٥٠ ألف رحلة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5532120"/>
            <a:ext cx="4206240" cy="566928"/>
          </a:xfrm>
          <a:prstGeom prst="roundRect">
            <a:avLst>
              <a:gd name="adj" fmla="val 20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570585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400" b="1">
                <a:solidFill>
                  <a:srgbClr val="A8792F"/>
                </a:solidFill>
                <a:latin typeface="Arial"/>
              </a:rPr>
              <a:t>▼  انخفاض ٩٥٪ في تكلفة الرحلة الواحدة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الميزانية التقنية — ثلاث سنوات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الاستثمار التقني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خدمات سحابية مُدارة بالكامل: لا خوادم مملوكة ولا مراكز بيانات ولا فريق تشغيل.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1028700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05087" y="2386584"/>
            <a:ext cx="2569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البند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386584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الإجمالي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7" y="2807208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البنية التحتية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١٥٬٠٥٠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٦٣٬٠٠٠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١٧٨٬٠٠٠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8072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٢٥٦٬٠٥٠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45536"/>
            <a:ext cx="10287000" cy="45720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7" y="3264408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الذكاء الاصطناعي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٢٬٢٥٠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١١٦٬٠٠٠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٢٤٧٬٠٠٠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2644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٣٦٥٬٢٥٠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7" y="3721608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الفريق التقني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١٬٠٦٦٬٠٠٠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١٬١٤١٬٦٠٠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١٬٢٢٠٬٥٠٠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3721608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٣٬٤٢٨٬١٠٠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059935"/>
            <a:ext cx="10287000" cy="45720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05087" y="4178807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الأمن والأدوات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١٠٠٬٠٠٠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5604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١١٥٬٠٠٠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8152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١٧٥٬٠٠٠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1788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٣٩٠٬٠٠٠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7" y="4636007"/>
            <a:ext cx="25694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احتياطي طوارئ ١٠٪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56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١١٨٬٣٣٠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604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١٤٣٬٥٦٠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152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١٨٢٬٠٥٠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4636007"/>
            <a:ext cx="16550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٤٤٣٬٩٤٠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974336"/>
            <a:ext cx="10287000" cy="512064"/>
          </a:xfrm>
          <a:prstGeom prst="rect">
            <a:avLst/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05087" y="5056631"/>
            <a:ext cx="25694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الإجمالي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١٬٣٠١٬٦٣٠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١٬٥٧٩٬١٦٠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8152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٢٬٠٠٢٬٥٥٠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7" y="5056631"/>
            <a:ext cx="16550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٤٬٨٨٣٬٣٤٠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10287000" cy="685800"/>
          </a:xfrm>
          <a:prstGeom prst="roundRect">
            <a:avLst>
              <a:gd name="adj" fmla="val 10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687568"/>
            <a:ext cx="9738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A8792F"/>
                </a:solidFill>
                <a:latin typeface="Arial"/>
              </a:rPr>
              <a:t>مخاطرة مركَّزة: Mapbox يمثّل نصف فاتورة البنية بالسنة ٣ — التخزين المؤقّت للمسارات وعقد بالحجم يوفّران ٣٠–٤٠٪.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فريق تقني ثابت — ٨ أفراد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الهيكل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دور واحد لكل تخصّص جوهري، بلا توسّع في الهيكل عبر السنوات الثلاث.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31720"/>
            <a:ext cx="1028700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2432303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الدور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7" y="2432303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العدد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8616" y="2432303"/>
            <a:ext cx="1636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2432303"/>
            <a:ext cx="1636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432303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السنة 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7" y="2852927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قائد تقني (CTO)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7" y="2852927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852927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٢٥٩٬٢٠٠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72384" y="2852927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٢٧٧٬٣٠٠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2852927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٢٩٦٬٤٠٠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191256"/>
            <a:ext cx="10287000" cy="45720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7" y="3310127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مطوّر Full-stack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7" y="3310127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3310127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١٨٧٬٢٠٠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2384" y="3310127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٢٠٠٬٤٠٠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310127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٢١٤٬٢٠٠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7" y="3767328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مطوّر مساعد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7" y="37673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767328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٢٣٠٬٤٠٠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384" y="3767328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٢٤٦٬٦٠٠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7" y="37673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٢٦٣٬٥٠٠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4105656"/>
            <a:ext cx="10287000" cy="45720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65007" y="4224528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مطوّر واجهات UI/UX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7" y="42245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4224528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١٣٠٬٠٠٠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72384" y="4224528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١٤٠٬٠٠٠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7" y="42245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١٥٠٬٠٠٠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7" y="4681728"/>
            <a:ext cx="3209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دعم فنّي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7" y="46817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8616" y="4681728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٢٥٩٬٢٠٠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72384" y="4681728"/>
            <a:ext cx="1636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٢٧٧٬٣٠٠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7" y="46817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٢٩٦٬٤٠٠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020056"/>
            <a:ext cx="10287000" cy="512064"/>
          </a:xfrm>
          <a:prstGeom prst="rect">
            <a:avLst/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65007" y="5102352"/>
            <a:ext cx="3209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الإجمالي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7" y="5102352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28616" y="5102352"/>
            <a:ext cx="1636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١٬٠٦٦٬٠٠٠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384" y="5102352"/>
            <a:ext cx="1636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١٬١٤١٬٦٠٠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7" y="510235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١٬٢٢٠٬٥٠٠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257800"/>
            <a:ext cx="10287000" cy="868680"/>
          </a:xfrm>
          <a:prstGeom prst="roundRect">
            <a:avLst>
              <a:gd name="adj" fmla="val 1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440680"/>
            <a:ext cx="9738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5B2C87"/>
                </a:solidFill>
                <a:latin typeface="Arial"/>
              </a:rPr>
              <a:t>لماذا يكفي هذا الحجم: البنية سحابية مُدارة فلا حاجة لفريق تشغيل خوادم،</a:t>
            </a:r>
          </a:p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5B2C87"/>
                </a:solidFill>
                <a:latin typeface="Arial"/>
              </a:rPr>
              <a:t>والدعم الذكي المدمج يمتصّ الاستفسارات المتكرّرة فيتفرّغ الدعم للحالات الحقيقية.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ربحية من السنة الأولى — بتقديرات محافظة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النموذج المالي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خُفِّضت توقّعات الإيراد ٥٨٪ عن النسخة السابقة لتكون قابلة للدفاع أمام أي مراجعة.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672084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4647" y="2386584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مصدر الإيراد — السنة الأولى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0047" y="2386584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الأساس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386584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الإيراد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7" y="2830068"/>
            <a:ext cx="2523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عمولة الرحلات (٢٠٪)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7" y="2830068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~٢٢ ألف رحلة × ٣٠ ريال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830068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٤٨٥٬٠٠٠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191256"/>
            <a:ext cx="6720840" cy="50292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7" y="3332988"/>
            <a:ext cx="2523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اشتراكات «باقة التنقّل»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7" y="3332988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٨٠٠ مشتركة × ١٤٩ ريال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332988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١٬٤٣٠٬٤٠٠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7" y="3835908"/>
            <a:ext cx="2523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16101F"/>
                </a:solidFill>
                <a:latin typeface="Arial"/>
              </a:rPr>
              <a:t>الخدمات الإضافية والإعلانات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7" y="3835908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~٣٠ ألف شهريًّا (آخر ٦ أشهر)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35908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0">
                <a:solidFill>
                  <a:srgbClr val="6E6579"/>
                </a:solidFill>
                <a:latin typeface="Arial"/>
              </a:rPr>
              <a:t>١٨٠٬٠٠٠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197096"/>
            <a:ext cx="6720840" cy="557784"/>
          </a:xfrm>
          <a:prstGeom prst="rect">
            <a:avLst/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7" y="4279392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5B2C87"/>
                </a:solidFill>
                <a:latin typeface="Arial"/>
              </a:rPr>
              <a:t>إجمالي الإيرادات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7" y="4279392"/>
            <a:ext cx="2295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5B2C87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279392"/>
            <a:ext cx="1243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1">
                <a:solidFill>
                  <a:srgbClr val="5B2C87"/>
                </a:solidFill>
                <a:latin typeface="Arial"/>
              </a:rPr>
              <a:t>~٢٬١٠٠٬٠٠٠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29415" y="2542032"/>
            <a:ext cx="54864" cy="1042415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54203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992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التكاليف التشغيلية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83280"/>
            <a:ext cx="27889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١٬٥٠٠٬٠٠٠ ريال سنويًّا — تشمل الميزانية التقنية الكاملة والتشغيل والتسويق.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023360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29415" y="4279392"/>
            <a:ext cx="54864" cy="1042415"/>
          </a:xfrm>
          <a:prstGeom prst="rect">
            <a:avLst/>
          </a:prstGeom>
          <a:solidFill>
            <a:srgbClr val="2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7939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3659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صافي الربح — السنة 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120640"/>
            <a:ext cx="2788920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~٦٠٠٬٠٠٠ ريال، تُعاد إلى التوسّع والتشغيل بدل توزيعها.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434340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5720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700" b="1">
                <a:solidFill>
                  <a:srgbClr val="5B2C87"/>
                </a:solidFill>
                <a:latin typeface="Arial"/>
              </a:rPr>
              <a:t>~٧٢٥ ألف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98348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رأس المال المطلوب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434340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45720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700" b="1">
                <a:solidFill>
                  <a:srgbClr val="5B2C87"/>
                </a:solidFill>
                <a:latin typeface="Arial"/>
              </a:rPr>
              <a:t>١٢–١٨ شهرًا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98348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فترة الاسترداد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4343400"/>
            <a:ext cx="2148840" cy="1051560"/>
          </a:xfrm>
          <a:prstGeom prst="roundRect">
            <a:avLst>
              <a:gd name="adj" fmla="val 8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0" y="457200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700" b="1">
                <a:solidFill>
                  <a:srgbClr val="5B2C87"/>
                </a:solidFill>
                <a:latin typeface="Arial"/>
              </a:rPr>
              <a:t>٣٠–٣٥٪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983480"/>
            <a:ext cx="2148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العائد في السنة 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7EFDE"/>
                </a:solidFill>
                <a:latin typeface="Arial"/>
              </a:rPr>
              <a:t>اقتصاديات الوحدة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الرحلة تصبح مربحة</a:t>
            </a:r>
          </a:p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منذ السنة الثانية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5455" y="3977639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4400" b="1">
                <a:solidFill>
                  <a:srgbClr val="F7EFDE"/>
                </a:solidFill>
                <a:latin typeface="Arial"/>
              </a:rPr>
              <a:t>٦٫٠٠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85455" y="4800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عمولة المنصّة من الرحلة · ريال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6455" y="3977639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4400" b="1">
                <a:solidFill>
                  <a:srgbClr val="C9B6DE"/>
                </a:solidFill>
                <a:latin typeface="Arial"/>
              </a:rPr>
              <a:t>٢٫٠٠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6455" y="4800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التكلفة التقنية · السنة ٣ · ريال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" y="3977639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٤٫٠٠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" y="4800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الفائض لكل رحلة · ريال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7EFDE"/>
                </a:solidFill>
                <a:latin typeface="Arial"/>
              </a:rPr>
              <a:t>التكلفة التقنية تهبط من ٤٠ ريالًا إلى ٢ — فكل رحلة إضافية بعد السنة الأولى تضيف هامشًا لا تكلفة.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خارطة الطريق — الإطلاق خلال ٨ أشهر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التنفيذ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رأس مال تأسيسي ~٧٢٥ ألف ريال موزّع على ستّ مراحل تنفيذية واضحة.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52760" y="2386584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52760" y="2468880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5B2C87"/>
                </a:solidFill>
                <a:latin typeface="Arial"/>
              </a:rPr>
              <a:t>١–٤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368296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التأسيس والترخيص الريادي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40487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خطاب تزكية الجامعة، خطاب عدم الممانعة، رخصة «ريادي»، السجل التجاري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9572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A8792F"/>
                </a:solidFill>
                <a:latin typeface="Arial"/>
              </a:rPr>
              <a:t>٥٠٬٠٠٠ ريال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852928"/>
            <a:ext cx="10287000" cy="56692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52760" y="2953512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52760" y="3035808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5B2C87"/>
                </a:solidFill>
                <a:latin typeface="Arial"/>
              </a:rPr>
              <a:t>٢–٥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935224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التطوير التقني (MVP)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71800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تطبيقات Android و iOS، الربط مع منصّة هيئة النقل، واجهات احترافية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62656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A8792F"/>
                </a:solidFill>
                <a:latin typeface="Arial"/>
              </a:rPr>
              <a:t>١٥٠٬٠٠٠ ريال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2760" y="3520440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52760" y="3602736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5B2C87"/>
                </a:solidFill>
                <a:latin typeface="Arial"/>
              </a:rPr>
              <a:t>٤–٥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502152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التوظيف والتدريب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538728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استقطاب أوّل ١٠٠ سائقة وتأهيلهنّ على القيادة الآمنة وخدمة العملاء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5295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A8792F"/>
                </a:solidFill>
                <a:latin typeface="Arial"/>
              </a:rPr>
              <a:t>١٠٠٬٠٠٠ ريال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986784"/>
            <a:ext cx="10287000" cy="56692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652760" y="4087368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4169664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5B2C87"/>
                </a:solidFill>
                <a:latin typeface="Arial"/>
              </a:rPr>
              <a:t>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069080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الإطلاق التجريبي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10565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التشغيل في بريدة مع ٥٠ سائقة وجمع الملاحظات الميدانية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096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A8792F"/>
                </a:solidFill>
                <a:latin typeface="Arial"/>
              </a:rPr>
              <a:t>٢٥٬٠٠٠ ريال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52760" y="4654296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4736592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5B2C87"/>
                </a:solidFill>
                <a:latin typeface="Arial"/>
              </a:rPr>
              <a:t>٧–٨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636008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الإطلاق الرسمي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672584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حملة تسويق رقمية موجَّهة وإطلاق «باقة التنقّل»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663440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A8792F"/>
                </a:solidFill>
                <a:latin typeface="Arial"/>
              </a:rPr>
              <a:t>١٠٠٬٠٠٠ ريال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5120640"/>
            <a:ext cx="10287000" cy="56692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52760" y="5221224"/>
            <a:ext cx="658368" cy="365760"/>
          </a:xfrm>
          <a:prstGeom prst="roundRect">
            <a:avLst>
              <a:gd name="adj" fmla="val 2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5303520"/>
            <a:ext cx="6583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1">
                <a:solidFill>
                  <a:srgbClr val="5B2C87"/>
                </a:solidFill>
                <a:latin typeface="Arial"/>
              </a:rPr>
              <a:t>١٢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202936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التوسّع الإقليمي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239512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الرياض وجدة والدمام — بتمويل من الإيرادات المتحقّقة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23036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50" b="1">
                <a:solidFill>
                  <a:srgbClr val="A8792F"/>
                </a:solidFill>
                <a:latin typeface="Arial"/>
              </a:rPr>
              <a:t>٣٠٠٬٠٠٠ ريال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797296"/>
            <a:ext cx="10287000" cy="548640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5952744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إجمالي رأس المال التأسيسي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59527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500" b="1">
                <a:solidFill>
                  <a:srgbClr val="F7EFDE"/>
                </a:solidFill>
                <a:latin typeface="Arial"/>
              </a:rPr>
              <a:t>~٧٢٥٬٠٠٠ ريال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~٧٢٥ ألف ريال — رأس المال حتى الإطلاق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الطلب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مبلغ محسوب لا مبالغ فيه: ثلثه ضمان مسترَدّ لهيئة النقل، والباقي منتج وتسويق وتأسيس.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377440"/>
            <a:ext cx="676656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15968" y="2478024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أوجه الاستخدام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2478024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المبلغ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478024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النسبة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92150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الضمان المالي لهيئة النقل (مسترَدّ)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92150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٢٥٠٬٠٠٠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292150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٣٤٪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282696"/>
            <a:ext cx="6766560" cy="50292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342442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تطوير التطبيق (MVP متكامل)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342442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١٥٠٬٠٠٠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7" y="342442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٢١٪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92734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التسويق والإطلاق (٦ أشهر)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392734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١٥٠٬٠٠٠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92734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٢١٪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288536"/>
            <a:ext cx="6766560" cy="502920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443026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رواتب أوّل ٣ أشهر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443026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١٢٥٬٠٠٠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443026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١٧٪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4933188"/>
            <a:ext cx="3438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50" b="1">
                <a:solidFill>
                  <a:srgbClr val="16101F"/>
                </a:solidFill>
                <a:latin typeface="Arial"/>
              </a:rPr>
              <a:t>التأسيس والتراخيص القانونية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4933188"/>
            <a:ext cx="1609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٥٠٬٠٠٠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7" y="4933188"/>
            <a:ext cx="10607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50" b="0">
                <a:solidFill>
                  <a:srgbClr val="6E6579"/>
                </a:solidFill>
                <a:latin typeface="Arial"/>
              </a:rPr>
              <a:t>٧٪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5294375"/>
            <a:ext cx="6766560" cy="557784"/>
          </a:xfrm>
          <a:prstGeom prst="rect">
            <a:avLst/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15968" y="5376671"/>
            <a:ext cx="3438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الإجمالي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5376671"/>
            <a:ext cx="16093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٧٢٥٬٠٠٠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7" y="5376671"/>
            <a:ext cx="1060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5B2C87"/>
                </a:solidFill>
                <a:latin typeface="Arial"/>
              </a:rPr>
              <a:t>١٠٠٪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37744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9415" y="2633472"/>
            <a:ext cx="54864" cy="1088136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263347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09067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مصادر الدعم المستهدفة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74720"/>
            <a:ext cx="278892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كفالة (ضمانات حتى ١٥ مليون) · رواد التقنية (٢٠٠–٣٠٠ ألف) · بنك التنمية الاجتماعية · حاضنة ابتكار بجامعة القصيم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4160520"/>
            <a:ext cx="32918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29415" y="4416552"/>
            <a:ext cx="54864" cy="1088136"/>
          </a:xfrm>
          <a:prstGeom prst="rect">
            <a:avLst/>
          </a:prstGeom>
          <a:solidFill>
            <a:srgbClr val="2F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41655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87375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العائد المتوقّع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5257800"/>
            <a:ext cx="2788920" cy="338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استرداد رأس المال خلال ١٢–١٨ شهرًا، وعائد ٣٠–٣٥٪ بحلول السنة الثالثة.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الترخيص الريادي — مسار رسمي مكتمل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المسار النظامي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رخصة تصدرها وزارة الاستثمار لروّاد الأعمال غير السعوديين: ملكية ١٠٠٪ وإقامة مستقلّة.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16768" y="2404872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16768" y="2487168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5B2C87"/>
                </a:solidFill>
                <a:latin typeface="Arial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86584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خطاب التزكية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من مركز الابتكار بجامعة القصيم — الشرط الأهمّ لقبول الطلب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1401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٢–٤ أسابيع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889504"/>
            <a:ext cx="10287000" cy="603504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16768" y="3008376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16768" y="3090672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5B2C87"/>
                </a:solidFill>
                <a:latin typeface="Arial"/>
              </a:rPr>
              <a:t>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900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خطاب عدم الممانعة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26664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من الكفيل الحالي لتحويل الإقامة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١–٢ أسبوع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16768" y="3611880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16768" y="3694176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5B2C87"/>
                </a:solidFill>
                <a:latin typeface="Arial"/>
              </a:rPr>
              <a:t>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93592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رخصة «ريادي»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30168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التقديم عبر بوابة وزارة الاستثمار (MISA)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2102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١–٢ أسبوع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4096512"/>
            <a:ext cx="10287000" cy="603504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716768" y="4215384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16768" y="4297680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5B2C87"/>
                </a:solidFill>
                <a:latin typeface="Arial"/>
              </a:rPr>
              <a:t>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19709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تحويل الإقامة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33672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الإقامة الريادية عبر الجوازات — تشمل العائلة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2245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٢–٤ أسابيع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16768" y="4818888"/>
            <a:ext cx="548640" cy="365760"/>
          </a:xfrm>
          <a:prstGeom prst="roundRect">
            <a:avLst>
              <a:gd name="adj" fmla="val 30000"/>
            </a:avLst>
          </a:prstGeom>
          <a:solidFill>
            <a:srgbClr val="F4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16768" y="490118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200" b="1">
                <a:solidFill>
                  <a:srgbClr val="5B2C87"/>
                </a:solidFill>
                <a:latin typeface="Arial"/>
              </a:rPr>
              <a:t>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800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50" b="1">
                <a:solidFill>
                  <a:srgbClr val="16101F"/>
                </a:solidFill>
                <a:latin typeface="Arial"/>
              </a:rPr>
              <a:t>تأسيس الشركة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37176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السجل التجاري، العلامة التجارية، ترخيص هيئة النقل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2803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١–٢ أسبوع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3823" y="5486400"/>
            <a:ext cx="2395728" cy="777240"/>
          </a:xfrm>
          <a:prstGeom prst="roundRect">
            <a:avLst>
              <a:gd name="adj" fmla="val 10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3823" y="5605272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A8792F"/>
                </a:solidFill>
                <a:latin typeface="Arial"/>
              </a:rPr>
              <a:t>ملكية ١٠٠٪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3823" y="5916168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بلا شريك محلّي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56071" y="5486400"/>
            <a:ext cx="2395728" cy="777240"/>
          </a:xfrm>
          <a:prstGeom prst="roundRect">
            <a:avLst>
              <a:gd name="adj" fmla="val 10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6071" y="5605272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A8792F"/>
                </a:solidFill>
                <a:latin typeface="Arial"/>
              </a:rPr>
              <a:t>٢٬٠٠٠ ريال/سنة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6071" y="5916168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رسوم أوّل ٣ سنوات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68319" y="5486400"/>
            <a:ext cx="2395728" cy="777240"/>
          </a:xfrm>
          <a:prstGeom prst="roundRect">
            <a:avLst>
              <a:gd name="adj" fmla="val 10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68319" y="5605272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A8792F"/>
                </a:solidFill>
                <a:latin typeface="Arial"/>
              </a:rPr>
              <a:t>إعفاء من نطاقات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8319" y="5916168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٣ سنوات تشغيلية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0567" y="5486400"/>
            <a:ext cx="2395728" cy="777240"/>
          </a:xfrm>
          <a:prstGeom prst="roundRect">
            <a:avLst>
              <a:gd name="adj" fmla="val 10000"/>
            </a:avLst>
          </a:prstGeom>
          <a:solidFill>
            <a:srgbClr val="F7E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0567" y="5605272"/>
            <a:ext cx="23957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1">
                <a:solidFill>
                  <a:srgbClr val="A8792F"/>
                </a:solidFill>
                <a:latin typeface="Arial"/>
              </a:rPr>
              <a:t>إقامة عائلية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" y="5916168"/>
            <a:ext cx="2395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050" b="0">
                <a:solidFill>
                  <a:srgbClr val="6E6579"/>
                </a:solidFill>
                <a:latin typeface="Arial"/>
              </a:rPr>
              <a:t>الزوج/ة والأبناء والوالدان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أمانة ورؤية ٢٠٣٠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التوافق الوطني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المشروع يخدم أربعة مستهدفات وطنية في آنٍ واحد — وهذا ما يجعله مؤهّلًا للدعم.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655" y="233172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39551" y="2587752"/>
            <a:ext cx="54864" cy="117957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5255" y="258775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👩‍💼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5255" y="304495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تمكين المرأة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342900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٤٬٠٠٠+ فرصة عمل مرنة للسعوديات بحلول السنة الثالثة.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0295" y="233172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73191" y="2587752"/>
            <a:ext cx="54864" cy="117957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8895" y="258775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8895" y="304495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الابتكار التقني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8895" y="342900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ذكاء اصطناعي وتسعير ديناميكي مبنيّ محلّيًّا بكوادر وطنية.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6655" y="420624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039551" y="4462272"/>
            <a:ext cx="54864" cy="1179576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5255" y="44622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5255" y="491947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الاستدامة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5255" y="530352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نقل تشاركي يخفض الانبعاثات ويقيسها ويكافئ عليها.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" y="4206240"/>
            <a:ext cx="49377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73191" y="4462272"/>
            <a:ext cx="54864" cy="1179576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8895" y="4462272"/>
            <a:ext cx="4251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000" b="0">
                <a:solidFill>
                  <a:srgbClr val="16101F"/>
                </a:solidFill>
                <a:latin typeface="Arial"/>
              </a:rPr>
              <a:t>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8895" y="4919472"/>
            <a:ext cx="4434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جودة الحياة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8895" y="5303520"/>
            <a:ext cx="4434840" cy="4297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تنقّل آمن ومريح يرفع مشاركة المرأة في سوق العمل والتعليم.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774375" y="0"/>
            <a:ext cx="1417320" cy="91440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00" b="1">
                <a:solidFill>
                  <a:srgbClr val="A8792F"/>
                </a:solidFill>
                <a:latin typeface="Arial"/>
              </a:rPr>
              <a:t>إدارة المخاطر — لكل احتمال خطّة بديلة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200" b="1">
                <a:solidFill>
                  <a:srgbClr val="5B2C87"/>
                </a:solidFill>
                <a:latin typeface="Arial"/>
              </a:rPr>
              <a:t>الحوكمة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0" b="0">
                <a:solidFill>
                  <a:srgbClr val="6E6579"/>
                </a:solidFill>
                <a:latin typeface="Arial"/>
              </a:rPr>
              <a:t>لا نعرض المخاطر فحسب، بل نعرض ما سنفعله فعليًّا إن تحقّقت.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10287000" cy="402336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7" y="2386584"/>
            <a:ext cx="2615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المخاطرة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6048" y="2386584"/>
            <a:ext cx="34838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استراتيجية التخفيف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386584"/>
            <a:ext cx="35295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00" b="1">
                <a:solidFill>
                  <a:srgbClr val="FFFFFF"/>
                </a:solidFill>
                <a:latin typeface="Arial"/>
              </a:rPr>
              <a:t>خطّة الطوارئ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7" y="2907791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6101F"/>
                </a:solidFill>
                <a:latin typeface="Arial"/>
              </a:rPr>
              <a:t>قانونية — رفض التزكية أو الترخيص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2907791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تواصل مبكر مع الجهات، ومستشار قانوني مدرج في الميزانية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907791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حاضنات بديلة (واعد، مسك)، أو شريك سعودي، أو تأشيرة استثمارية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346704"/>
            <a:ext cx="10287000" cy="65836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7" y="3566160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6101F"/>
                </a:solidFill>
                <a:latin typeface="Arial"/>
              </a:rPr>
              <a:t>مالية — تجاوز التكاليف أو نقص الإيراد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566160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احتياطي طوارئ ١٠٪، وتوقّعات مخفَّضة ٥٨٪ أصلًا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566160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خفض المصاريف التشغيلية والتركيز على النموّ العضوي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7" y="4224528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6101F"/>
                </a:solidFill>
                <a:latin typeface="Arial"/>
              </a:rPr>
              <a:t>تشغيلية — نقص السائقات أو ضعف الجودة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4224528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حوافز ذروة، تدريب مكثّف قبل الإطلاق، تقييم فوري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224528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عروض تشجيعية للسائقات والتعاقد مع شركات توظيف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663440"/>
            <a:ext cx="10287000" cy="658368"/>
          </a:xfrm>
          <a:prstGeom prst="rect">
            <a:avLst/>
          </a:prstGeom>
          <a:solidFill>
            <a:srgbClr val="F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7" y="4882896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6101F"/>
                </a:solidFill>
                <a:latin typeface="Arial"/>
              </a:rPr>
              <a:t>تنافسية — دخول لاعب أكبر تمويلًا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882896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مزايا حصرية يصعب تقليدها ومجتمع نسائي مغلق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882896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تسريع التوسّع للمدن الرئيسية والتمايز بالميزات المجتمعية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7" y="5541264"/>
            <a:ext cx="2615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50" b="1">
                <a:solidFill>
                  <a:srgbClr val="16101F"/>
                </a:solidFill>
                <a:latin typeface="Arial"/>
              </a:rPr>
              <a:t>تقنية — تعطّل أو اختراق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5541264"/>
            <a:ext cx="34838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بنية سحابية مُدارة، نسخ احتياطي يومي، اختبار اختراق سنوي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5541264"/>
            <a:ext cx="352958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150" b="0">
                <a:solidFill>
                  <a:srgbClr val="6E6579"/>
                </a:solidFill>
                <a:latin typeface="Arial"/>
              </a:rPr>
              <a:t>دعم فنّي على مدار الساعة واستعادة من النسخ الاحتياطية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1">
                <a:solidFill>
                  <a:srgbClr val="F7EFDE"/>
                </a:solidFill>
                <a:latin typeface="Arial"/>
              </a:rPr>
              <a:t>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4577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لماذا أمانة، ولماذا الآن؟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095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7EFDE"/>
                </a:solidFill>
                <a:latin typeface="Arial"/>
              </a:rPr>
              <a:t>◆  السوق مفتوح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8135" y="36118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لا منافس نسائي متكامل في المملكة حتى اليوم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015" y="32004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7EFDE"/>
                </a:solidFill>
                <a:latin typeface="Arial"/>
              </a:rPr>
              <a:t>◆  المنتج جاهز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6055" y="361188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نموذج أوّلي يعمل فعليًّا — ليس فكرة على ورق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095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7EFDE"/>
                </a:solidFill>
                <a:latin typeface="Arial"/>
              </a:rPr>
              <a:t>◆  الاقتصاد سليم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8135" y="48920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ربحية من السنة الأولى واسترداد خلال ١٢–١٨ شهرًا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6015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900" b="1">
                <a:solidFill>
                  <a:srgbClr val="F7EFDE"/>
                </a:solidFill>
                <a:latin typeface="Arial"/>
              </a:rPr>
              <a:t>◆  التوقيت مثالي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6055" y="489204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D2C0E6"/>
                </a:solidFill>
                <a:latin typeface="Arial"/>
              </a:rPr>
              <a:t>رؤية ٢٠٣٠ وبرامج الدعم في ذروة تفعيلها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أمانة — دراسة جدوى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E6579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am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7" y="1051560"/>
            <a:ext cx="128016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51460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4600" b="1">
                <a:solidFill>
                  <a:srgbClr val="5B2C87"/>
                </a:solidFill>
                <a:latin typeface="Arial"/>
              </a:rPr>
              <a:t>أمانة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3832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900" b="0">
                <a:solidFill>
                  <a:srgbClr val="6E6579"/>
                </a:solidFill>
                <a:latin typeface="Arial"/>
              </a:rPr>
              <a:t>رحلتكِ… بأمان وراحة تامّة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206240"/>
            <a:ext cx="5943600" cy="36576"/>
          </a:xfrm>
          <a:prstGeom prst="rect">
            <a:avLst/>
          </a:prstGeom>
          <a:solidFill>
            <a:srgbClr val="A87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4572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م. مدني كمال مدني حميدة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49560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٠٠٩٦٦٥٧٩٥٩٧٩٠٦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303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1">
                <a:solidFill>
                  <a:srgbClr val="5B2C87"/>
                </a:solidFill>
                <a:latin typeface="Arial"/>
              </a:rPr>
              <a:t>medani7@gmail.com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57200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1">
                <a:solidFill>
                  <a:srgbClr val="16101F"/>
                </a:solidFill>
                <a:latin typeface="Arial"/>
              </a:rPr>
              <a:t>م. عصمت عمر إبراهيم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956048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00" b="0">
                <a:solidFill>
                  <a:srgbClr val="6E6579"/>
                </a:solidFill>
                <a:latin typeface="Arial"/>
              </a:rPr>
              <a:t>٠٠٩٦٦٥٣٣٣٦٢٨٣٧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303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1">
                <a:solidFill>
                  <a:srgbClr val="5B2C87"/>
                </a:solidFill>
                <a:latin typeface="Arial"/>
              </a:rPr>
              <a:t>esmat369@hotmail.com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
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91695" cy="2148840"/>
          </a:xfrm>
          <a:prstGeom prst="rect">
            <a:avLst/>
          </a:prstGeom>
          <a:solidFill>
            <a:srgbClr val="4A2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am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2855" y="685800"/>
            <a:ext cx="1143000" cy="1143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148840"/>
            <a:ext cx="8899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F7EFDE"/>
                </a:solidFill>
                <a:latin typeface="Arial"/>
              </a:rPr>
              <a:t>منصّة التنقّل النسائي الذكية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88998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6400" b="1">
                <a:solidFill>
                  <a:srgbClr val="FFFFFF"/>
                </a:solidFill>
                <a:latin typeface="Arial"/>
              </a:rPr>
              <a:t>أمانة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8899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D8C7EA"/>
                </a:solidFill>
                <a:latin typeface="Arial"/>
              </a:rPr>
              <a:t>دراسة جدوى متكاملة · مشروع ريادي مبتكر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1">
                <a:solidFill>
                  <a:srgbClr val="A8792F"/>
                </a:solidFill>
                <a:latin typeface="Arial"/>
              </a:rPr>
              <a:t>مقدَّمة إلى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جامعة القصيم — مركز الابتكار والملكية الفكرية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5943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C9B6DE"/>
                </a:solidFill>
                <a:latin typeface="Arial"/>
              </a:rPr>
              <a:t>م. مدني كمال مدني حميدة   ·   م. عصمت عمر إبراهيم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175" y="53949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400" b="1">
                <a:solidFill>
                  <a:srgbClr val="F7EFDE"/>
                </a:solidFill>
                <a:latin typeface="Arial"/>
              </a:rPr>
              <a:t>يوليو ٢٠٢٦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سوق قائم بلا حلّ مخصَّص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الفرصة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المرأة في المملكة تتنقّل يوميًّا عبر تطبيقات لم تُصمَّم لها، فتدفع ثمن ذلك راحةً وأمانًا وخصوصية.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28600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29415" y="2542032"/>
            <a:ext cx="54864" cy="1362455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25420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9992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الخصوصية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383280"/>
            <a:ext cx="27432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غالبية السائقين رجال، والرحلة اليومية تتحوّل إلى مصدر توتّر متكرّر لا خيار فيه.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28600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08975" y="2542032"/>
            <a:ext cx="54864" cy="1362455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5420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9992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الأمان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383280"/>
            <a:ext cx="27432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لا أدوات سلامة مصمَّمة للمرأة: لا مرافقة أطفال، ولا مجموعات مغلقة، ولا تحقّق مزدوج.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2286000"/>
            <a:ext cx="32461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8536" y="2542032"/>
            <a:ext cx="54864" cy="1362455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25420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9992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التمكين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383280"/>
            <a:ext cx="2743200" cy="612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آلاف السعوديات يبحثن عن دخل مرن؛ قيادة المرأة فتحت الباب ولم يفتح أحد السوق.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526280"/>
            <a:ext cx="10287000" cy="960120"/>
          </a:xfrm>
          <a:prstGeom prst="roundRect">
            <a:avLst>
              <a:gd name="adj" fmla="val 8000"/>
            </a:avLst>
          </a:prstGeom>
          <a:solidFill>
            <a:srgbClr val="F7E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828032"/>
            <a:ext cx="9738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A8792F"/>
                </a:solidFill>
                <a:latin typeface="Arial"/>
              </a:rPr>
              <a:t>الفجوة: لا يوجد في السوق السعودي تطبيق نقل نسائي بالكامل — من الراكبة إلى السائقة إلى فريق الدعم.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7EFDE"/>
                </a:solidFill>
                <a:latin typeface="Arial"/>
              </a:rPr>
              <a:t>الحلّ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منظومة تنقّل نسائية</a:t>
            </a:r>
          </a:p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مدعومة بالذكاء الاصطناعي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600" b="0">
                <a:solidFill>
                  <a:srgbClr val="DCCDEC"/>
                </a:solidFill>
                <a:latin typeface="Arial"/>
              </a:rPr>
              <a:t>ليست تطبيق نقل فحسب — بل بيئة كاملة صُمّمت حول أمان المرأة وخصوصيتها وتمكينها اقتصاديًّا.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08415" y="46177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3000" b="1">
                <a:solidFill>
                  <a:srgbClr val="F7EFDE"/>
                </a:solidFill>
                <a:latin typeface="Arial"/>
              </a:rPr>
              <a:t>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5230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D2C0E6"/>
                </a:solidFill>
                <a:latin typeface="Arial"/>
              </a:rPr>
              <a:t>تطبيقات متكاملة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2375" y="46177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3000" b="1">
                <a:solidFill>
                  <a:srgbClr val="F7EFDE"/>
                </a:solidFill>
                <a:latin typeface="Arial"/>
              </a:rPr>
              <a:t>١٠٠٪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2375" y="5230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D2C0E6"/>
                </a:solidFill>
                <a:latin typeface="Arial"/>
              </a:rPr>
              <a:t>نسائية بالكامل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6335" y="46177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3000" b="1">
                <a:solidFill>
                  <a:srgbClr val="F7EFDE"/>
                </a:solidFill>
                <a:latin typeface="Arial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6335" y="5230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D2C0E6"/>
                </a:solidFill>
                <a:latin typeface="Arial"/>
              </a:rPr>
              <a:t>ذكاء اصطناعي مدمج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295" y="4617720"/>
            <a:ext cx="2377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3000" b="1">
                <a:solidFill>
                  <a:srgbClr val="F7EFDE"/>
                </a:solidFill>
                <a:latin typeface="Arial"/>
              </a:rPr>
              <a:t>جاهز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295" y="523036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D2C0E6"/>
                </a:solidFill>
                <a:latin typeface="Arial"/>
              </a:rPr>
              <a:t>نموذج أوّلي يعمل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ستّ مزايا لا يملكها أيّ منافس مجتمعة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الميزة التنافسية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كل ميزة تحلّ مشكلة حقيقية، وثلاث منها غير موجودة في السوق السعودي إطلاقًا.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48295" y="22402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39551" y="2496312"/>
            <a:ext cx="54864" cy="117957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76895" y="2496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6895" y="2953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مساعد السفر الذكي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6895" y="333756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يقترح وجهات بناءً على اهتمامات الراكبة وتاريخ رحلاتها.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295" y="22402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10551" y="2496312"/>
            <a:ext cx="54864" cy="117957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7895" y="2496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7895" y="2953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التسعير الديناميكي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7895" y="333756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سعر شفّاف يعكس الطلب لحظيًّا، ويُعرض قبل التأكيد.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295" y="22402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1551" y="2496312"/>
            <a:ext cx="54864" cy="117957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8895" y="249631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8895" y="29535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البصمة الكربونية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8895" y="333756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حساب التوفير في الانبعاثات ومكافآت خضراء للراكبات.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295" y="41148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039551" y="4370832"/>
            <a:ext cx="54864" cy="1179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6895" y="43708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👩‍👧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6895" y="48280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مرافقة الأطفال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6895" y="521208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سائقات مدرَّبات على تركيب مقاعد الأطفال — لا يقدّمها منافس.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19295" y="41148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610551" y="4370832"/>
            <a:ext cx="54864" cy="1179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7895" y="43708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7895" y="48280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المجموعات المغلقة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7895" y="521208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رحلات تشاركية خاصّة بين زميلات العمل أو الدراسة.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0295" y="411480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1551" y="4370832"/>
            <a:ext cx="54864" cy="1179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8895" y="4370832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🛡️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8895" y="48280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16101F"/>
                </a:solidFill>
                <a:latin typeface="Arial"/>
              </a:rPr>
              <a:t>التقييم المزدوج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8895" y="5212080"/>
            <a:ext cx="274320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تقييم الراكبة والسائقة معًا — حماية متبادلة ترفع الجودة.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فرضيات النموّ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أساس الحساب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كل رقم في هذا العرض مشتقّ من هذه الفرضيات — تغييرها يغيّر النتائج بالتناسب.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331720"/>
            <a:ext cx="1028700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65007" y="2432303"/>
            <a:ext cx="32095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المؤشّر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79007" y="2432303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١ — الإطلاق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7" y="2432303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٢ — النموّ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432303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٣ — التوسّع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7" y="2862072"/>
            <a:ext cx="32095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المدن المغطّاة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9007" y="2862072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 (بريدة)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7" y="2862072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2862072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٥ – 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209544"/>
            <a:ext cx="10287000" cy="47548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3337560"/>
            <a:ext cx="32095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مستخدمات نشطات شهريًّا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3337560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٥٬٠٠٠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7" y="3337560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٣٥٬٠٠٠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337560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١٢٠٬٠٠٠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7" y="3813047"/>
            <a:ext cx="32095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سائقات نشطات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9007" y="3813047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١٥٠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7" y="3813047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١٬٢٠٠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813047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٤٬٠٠٠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160519"/>
            <a:ext cx="10287000" cy="47548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7" y="4288535"/>
            <a:ext cx="32095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الرحلات سنويًّا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79007" y="4288535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٣٠٬٠٠٠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3007" y="4288535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٣٠٠٬٠٠٠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7" y="4288535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١٬٠٠٠٬٠٠٠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7" y="4764023"/>
            <a:ext cx="32095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متوسّط قيمة الرحلة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79007" y="4764023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٤٥ ريال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7" y="4764023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٤٥ ريال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4764023"/>
            <a:ext cx="206654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٤٥ ريال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5120640"/>
            <a:ext cx="10287000" cy="777240"/>
          </a:xfrm>
          <a:prstGeom prst="roundRect">
            <a:avLst>
              <a:gd name="adj" fmla="val 1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0" y="5376672"/>
            <a:ext cx="9738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5B2C87"/>
                </a:solidFill>
                <a:latin typeface="Arial"/>
              </a:rPr>
              <a:t>الإطلاق من بريدة بدعم حاضنة جامعة القصيم، ثمّ التوسّع إلى الرياض وجدة والدمام في السنة الثانية.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التكلفة التقنية لكل رحلة تنخفض ٩٥٪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الأطروحة الاستثمارية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فريق ثابت من ٨ أفراد وبنية سحابية مُدارة يخدمان ٣٠ ألف رحلة أو مليون رحلة بالهيكل نفسه.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2880" y="2514600"/>
            <a:ext cx="2255520" cy="224028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2880" y="2130552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5B2C87"/>
                </a:solidFill>
                <a:latin typeface="Arial"/>
              </a:rPr>
              <a:t>42.6 ر.س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02880" y="4882896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السنة ١</a:t>
            </a:r>
          </a:p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٣٠ ألف رحلة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90160" y="4481418"/>
            <a:ext cx="2255520" cy="273461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90160" y="4097370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5B2C87"/>
                </a:solidFill>
                <a:latin typeface="Arial"/>
              </a:rPr>
              <a:t>5.2 ر.س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0160" y="4882896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السنة ٢</a:t>
            </a:r>
          </a:p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٣٠٠ ألف رحلة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4644443"/>
            <a:ext cx="2255520" cy="11043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39" y="4260395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A8792F"/>
                </a:solidFill>
                <a:latin typeface="Arial"/>
              </a:rPr>
              <a:t>2.1 ر.س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39" y="4882896"/>
            <a:ext cx="2255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السنة ٣</a:t>
            </a:r>
          </a:p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مليون رحلة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5532120"/>
            <a:ext cx="4206240" cy="566928"/>
          </a:xfrm>
          <a:prstGeom prst="roundRect">
            <a:avLst>
              <a:gd name="adj" fmla="val 20000"/>
            </a:avLst>
          </a:prstGeom>
          <a:solidFill>
            <a:srgbClr val="F7E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7639" y="5705856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400" b="1">
                <a:solidFill>
                  <a:srgbClr val="A8792F"/>
                </a:solidFill>
                <a:latin typeface="Arial"/>
              </a:rPr>
              <a:t>▼  انخفاض ٩٥٪ في تكلفة الرحلة الواحدة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الميزانية التقنية — ثلاث سنوات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الاستثمار التقني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خدمات سحابية مُدارة بالكامل: لا خوادم مملوكة ولا مراكز بيانات ولا فريق تشغيل.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286000"/>
            <a:ext cx="1028700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7" y="2386584"/>
            <a:ext cx="2569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البند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0567" y="2386584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7" y="2386584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7" y="2386584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2386584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الإجمالي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7" y="2807208"/>
            <a:ext cx="25694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البنية التحتية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0567" y="28072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٢٠٬١٥٠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047" y="28072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٩٣٬٥٠٠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7" y="28072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٢٧٣٬٠٠٠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28072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٣٨٦٬٦٥٠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145536"/>
            <a:ext cx="10287000" cy="45720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05087" y="3264408"/>
            <a:ext cx="25694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الذكاء الاصطناعي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7" y="32644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٢٬٢٥٠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7" y="32644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١١٦٬٠٠٠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7" y="32644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٢٤٧٬٠٠٠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7" y="32644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٣٦٥٬٢٥٠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05087" y="3721608"/>
            <a:ext cx="25694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الفريق التقني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37216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١٬٠٢٠٬٠٠٠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56047" y="37216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١٬٠٩٥٬٠٠٠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81527" y="37216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١٬١٧٠٬٠٠٠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3721608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٣٬٢٨٥٬٠٠٠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4059935"/>
            <a:ext cx="10287000" cy="45720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05087" y="4178807"/>
            <a:ext cx="25694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الأمن والأدوات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7" y="41788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١٢٠٬٠٠٠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6047" y="41788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١١٥٬٠٠٠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7" y="41788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١٧٥٬٠٠٠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7007" y="41788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٤١٠٬٠٠٠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05087" y="4636007"/>
            <a:ext cx="25694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احتياطي طوارئ ١٠٪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7" y="46360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١١٦٬٢٤٠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7" y="46360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١٤١٬٩٥٠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81527" y="46360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١٨٦٬٥٠٠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007" y="4636007"/>
            <a:ext cx="16550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٤٤٤٬٦٩٠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7280" y="4974336"/>
            <a:ext cx="10287000" cy="512064"/>
          </a:xfrm>
          <a:prstGeom prst="rect">
            <a:avLst/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5087" y="5056631"/>
            <a:ext cx="25694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الإجمالي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7" y="5056631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١٬٢٧٨٬٦٤٠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56047" y="5056631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١٬٥٦١٬٤٥٠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81527" y="5056631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٢٬٠٥١٬٥٠٠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07007" y="5056631"/>
            <a:ext cx="16550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٤٬٨٩١٬٥٩٠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97280" y="5486400"/>
            <a:ext cx="10287000" cy="685800"/>
          </a:xfrm>
          <a:prstGeom prst="roundRect">
            <a:avLst>
              <a:gd name="adj" fmla="val 10000"/>
            </a:avLst>
          </a:prstGeom>
          <a:solidFill>
            <a:srgbClr val="F7EF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600" y="5687568"/>
            <a:ext cx="9738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A8792F"/>
                </a:solidFill>
                <a:latin typeface="Arial"/>
              </a:rPr>
              <a:t>مخاطرة مركَّزة: Mapbox يمثّل نصف فاتورة البنية بالسنة ٣ — التخزين المؤقّت للمسارات وعقد بالحجم يوفّران ٣٠–٤٠٪.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فريق تقني ثابت — ٨ أفراد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الهيكل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دور واحد لكل تخصّص جوهري، بلا توسّع في الهيكل عبر السنوات الثلاث.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331720"/>
            <a:ext cx="1028700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13647" y="2432303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الدور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59167" y="2432303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الراتب/شهر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1887" y="2432303"/>
            <a:ext cx="877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العدد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9975" y="2432303"/>
            <a:ext cx="1362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3" y="2432303"/>
            <a:ext cx="1362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243230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السنة 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7" y="2862072"/>
            <a:ext cx="2660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قائد تقني (CTO)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9167" y="2862072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١٨٬٠٠٠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7" y="2862072"/>
            <a:ext cx="877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9975" y="2862072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٢٥٩٬٢٠٠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3" y="2862072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٢٧٧٬٣٠٠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2862072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٢٩٦٬٤٠٠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209544"/>
            <a:ext cx="10287000" cy="47548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7" y="3337560"/>
            <a:ext cx="2660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مطوّر Full-stack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7" y="3337560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١٣٬٠٠٠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7" y="3337560"/>
            <a:ext cx="877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5" y="333756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١٨٧٬٢٠٠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98063" y="3337560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٢٠٠٬٤٠٠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07007" y="3337560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٢١٤٬٢٠٠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13647" y="3813047"/>
            <a:ext cx="2660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مطوّر مساعد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7" y="3813047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٨٬٠٠٠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7" y="3813047"/>
            <a:ext cx="877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79975" y="3813047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٢٣٠٬٤٠٠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98063" y="3813047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٢٤٦٬٦٠٠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3813047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٢٦٣٬٥٠٠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4160519"/>
            <a:ext cx="10287000" cy="47548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13647" y="4288535"/>
            <a:ext cx="2660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دعم فنّي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9167" y="4288535"/>
            <a:ext cx="13350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٦٬٠٠٠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7" y="4288535"/>
            <a:ext cx="877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9975" y="4288535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٣٤٥٬٦٠٠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98063" y="4288535"/>
            <a:ext cx="13624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٣٧٠٬٧٠٠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07007" y="4288535"/>
            <a:ext cx="1371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٣٩٥٬٩٠٠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7280" y="4636007"/>
            <a:ext cx="10287000" cy="530352"/>
          </a:xfrm>
          <a:prstGeom prst="rect">
            <a:avLst/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13647" y="4718303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الإجمالي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7" y="4718303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٧١٬٠٠٠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61887" y="4718303"/>
            <a:ext cx="877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9975" y="4718303"/>
            <a:ext cx="1362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١٬٠٢٠٬٠٠٠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98063" y="4718303"/>
            <a:ext cx="1362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١٬٠٩٥٬٠٠٠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7007" y="471830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1">
                <a:solidFill>
                  <a:srgbClr val="5B2C87"/>
                </a:solidFill>
                <a:latin typeface="Arial"/>
              </a:rPr>
              <a:t>١٬١٧٠٬٠٠٠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97280" y="5257800"/>
            <a:ext cx="10287000" cy="868680"/>
          </a:xfrm>
          <a:prstGeom prst="roundRect">
            <a:avLst>
              <a:gd name="adj" fmla="val 1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5440680"/>
            <a:ext cx="9738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5B2C87"/>
                </a:solidFill>
                <a:latin typeface="Arial"/>
              </a:rPr>
              <a:t>لماذا يكفي هذا الحجم: البنية سحابية مُدارة فلا حاجة لفريق تشغيل خوادم،</a:t>
            </a:r>
          </a:p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5B2C87"/>
                </a:solidFill>
                <a:latin typeface="Arial"/>
              </a:rPr>
              <a:t>والدعم الذكي المدمج يمتصّ الاستفسارات المتكرّرة فيتفرّغ الدعم للحالات الحقيقية.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من الاستثمار إلى الربحية في ٣ سنوات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النموذج المالي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الإيراد = عمولة ٢٠٪ من قيمة الرحلات + اشتراكات وإعلانات. الأرقام بملايين الريالات.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240280"/>
            <a:ext cx="1028700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16367" y="2340864"/>
            <a:ext cx="37581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المؤشّر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340864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340864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340864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السنة 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2761488"/>
            <a:ext cx="3758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الرحلات سنويًّا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27614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٣٠٬٠٠٠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27614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٣٠٠٬٠٠٠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27614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١٬٠٠٠٬٠٠٠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099816"/>
            <a:ext cx="10287000" cy="45720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16367" y="3218688"/>
            <a:ext cx="3758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إجمالي قيمة الرحلات (GMV)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3248" y="32186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١٫٣٥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32186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١٣٫٥٠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2186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٤٥٫٠٠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3675888"/>
            <a:ext cx="3758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الإيرادات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36758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٠٫٣٢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0128" y="36758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٢٫٨٠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6758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٩٫٢٠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97280" y="4014216"/>
            <a:ext cx="10287000" cy="45720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6367" y="4133088"/>
            <a:ext cx="375818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التكاليف الكلّية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3248" y="41330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١٫٨٠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41330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٢٫٦١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133088"/>
            <a:ext cx="188366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٤٫٢٠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97280" y="4471416"/>
            <a:ext cx="10287000" cy="512064"/>
          </a:xfrm>
          <a:prstGeom prst="rect">
            <a:avLst/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16367" y="4553712"/>
            <a:ext cx="37581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صافي الربح / (الخسارة)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3248" y="4553712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(١٫٤٨)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4553712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٠٫١٩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7008" y="4553712"/>
            <a:ext cx="18836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٥٫٠٠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97280" y="4892040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4892040"/>
            <a:ext cx="3337560" cy="64008"/>
          </a:xfrm>
          <a:prstGeom prst="rect">
            <a:avLst/>
          </a:prstGeom>
          <a:solidFill>
            <a:srgbClr val="2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7280" y="5102352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2F7A55"/>
                </a:solidFill>
                <a:latin typeface="Arial"/>
              </a:rPr>
              <a:t>السنة 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5431536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الربحية الكاملة · ٥ مليون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62856" y="4892040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62856" y="4892040"/>
            <a:ext cx="3337560" cy="64008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62856" y="5102352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A8792F"/>
                </a:solidFill>
                <a:latin typeface="Arial"/>
              </a:rPr>
              <a:t>السنة 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62856" y="5431536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نقطة التعادل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28431" y="4892040"/>
            <a:ext cx="33375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1" y="4892040"/>
            <a:ext cx="3337560" cy="64008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28431" y="5102352"/>
            <a:ext cx="3337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1">
                <a:solidFill>
                  <a:srgbClr val="5B2C87"/>
                </a:solidFill>
                <a:latin typeface="Arial"/>
              </a:rPr>
              <a:t>السنة 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28431" y="5431536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استثمار وبناء السوق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6035040"/>
            <a:ext cx="10287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0">
                <a:solidFill>
                  <a:srgbClr val="6E6579"/>
                </a:solidFill>
                <a:latin typeface="Arial"/>
              </a:rPr>
              <a:t>الخسارة في السنة الأولى مقصودة ومموَّلة — هي كلفة بناء شبكة السائقات وقاعدة المستخدمات.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7EFDE"/>
                </a:solidFill>
                <a:latin typeface="Arial"/>
              </a:rPr>
              <a:t>اقتصاديات الوحدة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كل رحلة تربح ٥ ريالات</a:t>
            </a:r>
          </a:p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في السنة الثالثة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85455" y="3977639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4400" b="1">
                <a:solidFill>
                  <a:srgbClr val="F7EFDE"/>
                </a:solidFill>
                <a:latin typeface="Arial"/>
              </a:rPr>
              <a:t>٩٫٢٠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85455" y="480060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إيراد المنصّة · ريال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6455" y="3977639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4400" b="1">
                <a:solidFill>
                  <a:srgbClr val="C9B6DE"/>
                </a:solidFill>
                <a:latin typeface="Arial"/>
              </a:rPr>
              <a:t>٤٫٢٠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6455" y="480060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التكلفة الكلّية · ريال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" y="3977639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٥٫٠٠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455" y="480060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هامش المساهمة · ريال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2356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7EFDE"/>
                </a:solidFill>
                <a:latin typeface="Arial"/>
              </a:rPr>
              <a:t>هامش تشغيلي ٥٤٪ — ونحن ما زلنا نحتسب كامل تكلفة الفريق والبنية داخل الرقم.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خارطة الطريق — أوّل ١٢ شهرًا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التنفيذ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رأس مال تأسيسي ٨٠٠ ألف ريال موزّع على ستّ مراحل تنفيذية واضحة.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52760" y="2386584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52760" y="246888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١–٢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36829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التأسيس والترخيص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404872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خطاب تأييد الجامعة، الترخيص الريادي، السجل التجاري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9572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٥٠٬٠٠٠ ريال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852928"/>
            <a:ext cx="10287000" cy="56692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652760" y="2953512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60" y="303580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٢–٤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935224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التطوير التقني (MVP)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971800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بناء التطبيقات، تكامل الخرائط والدفع، البنية السحابية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962656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١٥٠٬٠٠٠ ريال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52760" y="3520440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3602736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502152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التوظيف والتدريب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538728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استقطاب أوّل ١٠٠ سائقة وتأهيلهنّ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529584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١٠٠٬٠٠٠ ريال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3986784"/>
            <a:ext cx="10287000" cy="56692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652760" y="4087368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52760" y="416966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4069080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الإطلاق التجريبي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4105656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التشغيل في بريدة وجمع الملاحظات الميدانية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096512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٥٠٬٠٠٠ ريال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52760" y="4654296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52760" y="473659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636008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الإطلاق الرسمي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80" y="4672584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حملة تسويقية واستقطاب ٥ آلاف مستخدمة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663440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٢٠٠٬٠٠٠ ريال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7280" y="5120640"/>
            <a:ext cx="10287000" cy="56692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652760" y="5221224"/>
            <a:ext cx="658368" cy="365760"/>
          </a:xfrm>
          <a:prstGeom prst="roundRect">
            <a:avLst>
              <a:gd name="adj" fmla="val 20000"/>
            </a:avLst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52760" y="530352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150" b="1">
                <a:solidFill>
                  <a:srgbClr val="5B2C87"/>
                </a:solidFill>
                <a:latin typeface="Arial"/>
              </a:rPr>
              <a:t>١٢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0293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16101F"/>
                </a:solidFill>
                <a:latin typeface="Arial"/>
              </a:rPr>
              <a:t>التوسّع الإقليمي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80" y="5239512"/>
            <a:ext cx="4800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الرياض وجدة والدمام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5230368"/>
            <a:ext cx="1600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50" b="1">
                <a:solidFill>
                  <a:srgbClr val="A8792F"/>
                </a:solidFill>
                <a:latin typeface="Arial"/>
              </a:rPr>
              <a:t>٢٥٠٬٠٠٠ ريال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97280" y="5797296"/>
            <a:ext cx="10287000" cy="54864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63840" y="595274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Arial"/>
              </a:rPr>
              <a:t>إجمالي رأس المال التأسيسي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59527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500" b="1">
                <a:solidFill>
                  <a:srgbClr val="F7EFDE"/>
                </a:solidFill>
                <a:latin typeface="Arial"/>
              </a:rPr>
              <a:t>٨٠٠٬٠٠٠ ريال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٢٫٥ مليون ريال — تمويل حتى الربحية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الطلب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يغطّي رأس المال التأسيسي وعجز التشغيل حتى نقطة التعادل في السنة الثانية، مع هامش أمان.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377440"/>
            <a:ext cx="676656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5968" y="2478024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أوجه الاستخدام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247802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المبلغ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478024"/>
            <a:ext cx="1060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Arial"/>
              </a:rPr>
              <a:t>النسبة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2921508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التطوير التقني والبنية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7168" y="2921508"/>
            <a:ext cx="1609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١٬٢٨٠٬٠٠٠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2921508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٥١٪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282696"/>
            <a:ext cx="6766560" cy="50292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5968" y="3424428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التسويق واكتساب المستخدمات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3424428"/>
            <a:ext cx="1609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٦٥٠٬٠٠٠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3424428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٢٦٪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927348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استقطاب السائقات وتأهيلهنّ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7168" y="3927348"/>
            <a:ext cx="1609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٣٢٠٬٠٠٠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927348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١٣٪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4288536"/>
            <a:ext cx="6766560" cy="502920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4430268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التراخيص والامتثال القانوني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4430268"/>
            <a:ext cx="1609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١٢٥٬٠٠٠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4430268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٥٪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4933188"/>
            <a:ext cx="34381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16101F"/>
                </a:solidFill>
                <a:latin typeface="Arial"/>
              </a:rPr>
              <a:t>احتياطي تشغيلي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4933188"/>
            <a:ext cx="1609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١٢٥٬٠٠٠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7007" y="4933188"/>
            <a:ext cx="1060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٥٪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5294375"/>
            <a:ext cx="6766560" cy="557784"/>
          </a:xfrm>
          <a:prstGeom prst="rect">
            <a:avLst/>
          </a:prstGeom>
          <a:solidFill>
            <a:srgbClr val="F4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5376671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الإجمالي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87168" y="5376671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٢٬٥٠٠٬٠٠٠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7007" y="5376671"/>
            <a:ext cx="1060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١٠٠٪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377440"/>
            <a:ext cx="32918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329415" y="2633472"/>
            <a:ext cx="54864" cy="108813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633472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09067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مصادر الدعم المستهدفة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474720"/>
            <a:ext cx="278892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منشآت · كفالة (حتى ١٥ مليون ضمان) · ريادة (حتى ٣٠٠ ألف نقدًا) · رواد التقنية · حاضنة جامعة القصيم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4160520"/>
            <a:ext cx="329184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329415" y="4416552"/>
            <a:ext cx="54864" cy="1088136"/>
          </a:xfrm>
          <a:prstGeom prst="rect">
            <a:avLst/>
          </a:prstGeom>
          <a:solidFill>
            <a:srgbClr val="2F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4416552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87375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العائد المتوقّع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257800"/>
            <a:ext cx="2788920" cy="3383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استرداد كامل خلال السنة الثالثة، وصافي ربح تراكمي ٣٫٧ مليون ريال بنهاية السنة الثالثة.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أمانة ورؤية ٢٠٣٠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التوافق الوطني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المشروع يخدم أربعة مستهدفات وطنية في آنٍ واحد — وهذا ما يجعله مؤهّلًا للدعم.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6655" y="2331720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39551" y="2587752"/>
            <a:ext cx="54864" cy="117957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5255" y="258775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👩‍💼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5255" y="304495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تمكين المرأة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5255" y="3429000"/>
            <a:ext cx="443484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٤٬٠٠٠+ فرصة عمل مرنة للسعوديات بحلول السنة الثالثة.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0295" y="2331720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73191" y="2587752"/>
            <a:ext cx="54864" cy="117957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8895" y="258775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8895" y="304495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الابتكار التقني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8895" y="3429000"/>
            <a:ext cx="443484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ذكاء اصطناعي وتسعير ديناميكي مبنيّ محلّيًّا بكوادر وطنية.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6655" y="4206240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039551" y="4462272"/>
            <a:ext cx="54864" cy="1179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5255" y="4462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5255" y="491947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الاستدامة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5255" y="5303520"/>
            <a:ext cx="443484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نقل تشاركي يخفض الانبعاثات ويقيسها ويكافئ عليها.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0295" y="4206240"/>
            <a:ext cx="493776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73191" y="4462272"/>
            <a:ext cx="54864" cy="1179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8895" y="4462272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000" b="0">
                <a:solidFill>
                  <a:srgbClr val="16101F"/>
                </a:solidFill>
                <a:latin typeface="Arial"/>
              </a:rPr>
              <a:t>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8895" y="491947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جودة الحياة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8895" y="5303520"/>
            <a:ext cx="4434840" cy="4297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150" b="0">
                <a:solidFill>
                  <a:srgbClr val="6E6579"/>
                </a:solidFill>
                <a:latin typeface="Arial"/>
              </a:rPr>
              <a:t>تنقّل آمن ومريح يرفع مشاركة المرأة في سوق العمل والتعليم.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774375" y="0"/>
            <a:ext cx="1417320" cy="91440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A8792F"/>
                </a:solidFill>
                <a:latin typeface="Arial"/>
              </a:rPr>
              <a:t>إدارة المخاطر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41248"/>
            <a:ext cx="1054577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5B2C87"/>
                </a:solidFill>
                <a:latin typeface="Arial"/>
              </a:rPr>
              <a:t>الحوكمة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457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400" b="0">
                <a:solidFill>
                  <a:srgbClr val="6E6579"/>
                </a:solidFill>
                <a:latin typeface="Arial"/>
              </a:rPr>
              <a:t>لكل مخاطرة استراتيجية تخفيف قابلة للقياس ومُدرجة في الميزانية.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331720"/>
            <a:ext cx="10287000" cy="402336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2167" y="2432303"/>
            <a:ext cx="30723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المخاطرة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2432303"/>
            <a:ext cx="6775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استراتيجية التخفيف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02167" y="2907791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تقنية — تعطّل أو اختراق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7" y="2907791"/>
            <a:ext cx="6775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بنية سحابية مُدارة (Supabase / Vercel)، نسخ احتياطي يومي، اختبار اختراق سنوي مموَّل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300984"/>
            <a:ext cx="10287000" cy="56692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2167" y="3474720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تشغيلية — نقص السائقات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74720"/>
            <a:ext cx="6775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حوافز ذروة، تسعير ديناميكي، استقطاب مستمرّ بالشراكة مع الجامعات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7" y="404164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تنافسية — دخول لاعب كبير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4041648"/>
            <a:ext cx="6775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مزايا حصرية يصعب تقليدها، ومجتمع نسائي مغلق يبني ولاءً حقيقيًّا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34840"/>
            <a:ext cx="10287000" cy="566928"/>
          </a:xfrm>
          <a:prstGeom prst="rect">
            <a:avLst/>
          </a:prstGeom>
          <a:solidFill>
            <a:srgbClr val="F2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2167" y="4608576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تنظيمية — متطلّبات الترخيص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608576"/>
            <a:ext cx="6775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تواصل مبكر مع هيئة النقل، واستشارة قانونية مدرجة في الميزانية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7" y="517550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50" b="1">
                <a:solidFill>
                  <a:srgbClr val="16101F"/>
                </a:solidFill>
                <a:latin typeface="Arial"/>
              </a:rPr>
              <a:t>مالية — تجاوز التكاليف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7" y="5175504"/>
            <a:ext cx="67757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250" b="0">
                <a:solidFill>
                  <a:srgbClr val="6E6579"/>
                </a:solidFill>
                <a:latin typeface="Arial"/>
              </a:rPr>
              <a:t>احتياطي طوارئ ١٠٪، وأكبر بند متغيّر (الخرائط) له خطّة خفض ٣٠–٤٠٪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2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7EFDE"/>
                </a:solidFill>
                <a:latin typeface="Arial"/>
              </a:rPr>
              <a:t>الخلاصة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لماذا أمانة، ولماذا الآن؟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095" y="3200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900" b="1">
                <a:solidFill>
                  <a:srgbClr val="F7EFDE"/>
                </a:solidFill>
                <a:latin typeface="Arial"/>
              </a:rPr>
              <a:t>◆  السوق مفتوح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8135" y="361188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لا منافس نسائي متكامل في المملكة حتى اليوم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015" y="3200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900" b="1">
                <a:solidFill>
                  <a:srgbClr val="F7EFDE"/>
                </a:solidFill>
                <a:latin typeface="Arial"/>
              </a:rPr>
              <a:t>◆  المنتج جاهز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6055" y="361188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نموذج أوّلي يعمل فعليًّا — ليس فكرة على ورق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095" y="4480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900" b="1">
                <a:solidFill>
                  <a:srgbClr val="F7EFDE"/>
                </a:solidFill>
                <a:latin typeface="Arial"/>
              </a:rPr>
              <a:t>◆  الاقتصاد سليم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8135" y="489204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هامش ٥٤٪ للرحلة وربحية كاملة في السنة الثالثة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015" y="44805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900" b="1">
                <a:solidFill>
                  <a:srgbClr val="F7EFDE"/>
                </a:solidFill>
                <a:latin typeface="Arial"/>
              </a:rPr>
              <a:t>◆  التوقيت مثالي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6055" y="4892040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D2C0E6"/>
                </a:solidFill>
                <a:latin typeface="Arial"/>
              </a:rPr>
              <a:t>رؤية ٢٠٣٠ وبرامج الدعم في ذروة تفعيلها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أمانة — دراسة جدوى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E6579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am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051560"/>
            <a:ext cx="128016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1460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4600" b="1">
                <a:solidFill>
                  <a:srgbClr val="5B2C87"/>
                </a:solidFill>
                <a:latin typeface="Arial"/>
              </a:rPr>
              <a:t>أمانة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38328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900" b="0">
                <a:solidFill>
                  <a:srgbClr val="6E6579"/>
                </a:solidFill>
                <a:latin typeface="Arial"/>
              </a:rPr>
              <a:t>رحلتكِ… بأمان وراحة تامّة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4206240"/>
            <a:ext cx="5943600" cy="36576"/>
          </a:xfrm>
          <a:prstGeom prst="rect">
            <a:avLst/>
          </a:prstGeom>
          <a:solidFill>
            <a:srgbClr val="A87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45720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م. مدني كمال مدني حميدة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49560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٠٠٩٦٦٥٧٩٥٩٧٩٠٦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303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medani7@gmail.com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57200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16101F"/>
                </a:solidFill>
                <a:latin typeface="Arial"/>
              </a:rPr>
              <a:t>م. عصمت عمر إبراهيم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956048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6E6579"/>
                </a:solidFill>
                <a:latin typeface="Arial"/>
              </a:rPr>
              <a:t>٠٠٩٦٦٥٣٣٣٦٢٨٣٧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530352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1">
                <a:solidFill>
                  <a:srgbClr val="5B2C87"/>
                </a:solidFill>
                <a:latin typeface="Arial"/>
              </a:rPr>
              <a:t>esmat369@hotmail.com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
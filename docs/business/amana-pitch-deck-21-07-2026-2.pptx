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82735" y="0"/>
            <a:ext cx="3108960" cy="1463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mana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777240"/>
            <a:ext cx="1371600" cy="137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68135" y="960120"/>
            <a:ext cx="3017520" cy="384048"/>
          </a:xfrm>
          <a:prstGeom prst="roundRect">
            <a:avLst>
              <a:gd name="adj" fmla="val 3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575" y="10607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1">
                <a:solidFill>
                  <a:srgbClr val="6D28D9"/>
                </a:solidFill>
                <a:latin typeface="Arial"/>
              </a:rPr>
              <a:t>منصّة تنقّل نسائي مدعومة بالذكاء الاصطناعي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86255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6200" b="1">
                <a:solidFill>
                  <a:srgbClr val="4C1D95"/>
                </a:solidFill>
                <a:latin typeface="Arial"/>
              </a:rPr>
              <a:t>أمانة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8625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800" b="1">
                <a:solidFill>
                  <a:srgbClr val="7C3AED"/>
                </a:solidFill>
                <a:latin typeface="Arial"/>
              </a:rPr>
              <a:t>رحلتكِ… بأمان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01568"/>
            <a:ext cx="8625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800" b="1">
                <a:solidFill>
                  <a:srgbClr val="EC4899"/>
                </a:solidFill>
                <a:latin typeface="Arial"/>
              </a:rPr>
              <a:t>وراحة تامّة.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>
                <a:solidFill>
                  <a:srgbClr val="FCE7F3"/>
                </a:solidFill>
                <a:latin typeface="Arial"/>
              </a:rPr>
              <a:t>دراسة جدوى متكاملة · مشروع ريادي مبتكر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1">
                <a:solidFill>
                  <a:srgbClr val="EC4899"/>
                </a:solidFill>
                <a:latin typeface="Arial"/>
              </a:rPr>
              <a:t>مقدَّمة إلى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جامعة القصيم، مركز الابتكار والملكية الفكرية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D5C3F0"/>
                </a:solidFill>
                <a:latin typeface="Arial"/>
              </a:rPr>
              <a:t>م. مدني كمال مدني حميدة   ·   م. عصمت عمر إبراهيم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4175" y="57607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400" b="1">
                <a:solidFill>
                  <a:srgbClr val="FCE7F3"/>
                </a:solidFill>
                <a:latin typeface="Arial"/>
              </a:rPr>
              <a:t>21‏ يوليو 2026‏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سوق قائم بلا حلّ مخصَّص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الفرصة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المرأة في المملكة تتنقّل يوميًّا عبر تطبيقات لم تُصمَّم لها، فتدفع ثمن ذلك راحةً وأمانًا وخصوصية.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2860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9415" y="2542032"/>
            <a:ext cx="54864" cy="136245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5420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الخصوصية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383280"/>
            <a:ext cx="27432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غالبية السائقين رجال، والرحلة اليومية تتحوّل إلى مصدر توتّر متكرّر لا خيار فيه.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2860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08975" y="2542032"/>
            <a:ext cx="54864" cy="136245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5420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الأمان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83280"/>
            <a:ext cx="27432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لا أدوات سلامة مصمَّمة للمرأة: لا مرافقة أطفال، ولا مجموعات مغلقة، ولا تحقّق مزدوج.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2860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2542032"/>
            <a:ext cx="54864" cy="136245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5420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التمكين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383280"/>
            <a:ext cx="27432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آلاف السعوديات يبحثن عن دخل مرن؛ قيادة المرأة فتحت الباب ولم يفتح أحد السوق.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526280"/>
            <a:ext cx="10287000" cy="960120"/>
          </a:xfrm>
          <a:prstGeom prst="roundRect">
            <a:avLst>
              <a:gd name="adj" fmla="val 8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828032"/>
            <a:ext cx="9738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Arial"/>
              </a:rPr>
              <a:t>الفجوة: لا يوجد في السوق السعودي تطبيق نقل نسائي بالكامل، من الراكبة إلى السائقة إلى فريق الدعم.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سوق ينمو 13%‏ سنويًّا، ونصفه بلا خدمة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حجم السوق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قطاع طلب سيارات الأجرة في المملكة، وأرقام الطلب النسائي التي تثبت جاهزية السوق.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3823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3823" y="2286000"/>
            <a:ext cx="2395728" cy="640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3823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>
                <a:solidFill>
                  <a:srgbClr val="6D28D9"/>
                </a:solidFill>
                <a:latin typeface="Arial"/>
              </a:rPr>
              <a:t>1.9‏ مليار 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3823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حجم السوق 2025‏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6071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6071" y="2286000"/>
            <a:ext cx="2395728" cy="640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071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>
                <a:solidFill>
                  <a:srgbClr val="6D28D9"/>
                </a:solidFill>
                <a:latin typeface="Arial"/>
              </a:rPr>
              <a:t>5.6‏ مليار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6071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المتوقَّع 2034‏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8319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8319" y="2286000"/>
            <a:ext cx="2395728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8319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EC4899"/>
                </a:solidFill>
                <a:latin typeface="Arial"/>
              </a:rPr>
              <a:t>13.03%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8319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نموّ سنوي مركّب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0567" y="2286000"/>
            <a:ext cx="2395728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EC4899"/>
                </a:solidFill>
                <a:latin typeface="Arial"/>
              </a:rPr>
              <a:t>54.26%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نموّ الرحلات سنويًّا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86200"/>
            <a:ext cx="10287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6D28D9"/>
                </a:solidFill>
                <a:latin typeface="Arial"/>
              </a:rPr>
              <a:t>سوقا الانطلاق: بريدة أوّلًا، ثمّ الرياض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29768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4398264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المؤشّر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7" y="4398264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بريدة — الانطلاق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7" y="4398264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الرياض — التوسّع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398264"/>
            <a:ext cx="3986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لماذا هذا الترتيب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7" y="479145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عدد السكّان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7" y="4791456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~700‏ ألف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7" y="4791456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~8‏ ملايين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4791456"/>
            <a:ext cx="39867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نبدأ صغيرًا لنتعلّم، ثمّ ندخل الأكبر بثقة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5102352"/>
            <a:ext cx="10287000" cy="402336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7" y="5193792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نسبة النساء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7" y="5193792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~45%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7" y="5193792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~42%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7007" y="5193792"/>
            <a:ext cx="39867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قاعدة الطلب في المدينتين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5596128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الموظفات والطالبات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9207" y="5596128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~250‏ ألف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3247" y="5596128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~1.4‏ مليون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7" y="5596128"/>
            <a:ext cx="39867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الشريحة الأعلى تكرارًا للرحلات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5907024"/>
            <a:ext cx="10287000" cy="402336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7" y="5998464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ميزة إضافية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7" y="5998464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مقرّ جامعة القصيم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3247" y="5998464"/>
            <a:ext cx="1746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أكبر سوق بالمملكة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07007" y="5998464"/>
            <a:ext cx="39867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الحاضنة تجاورنا في سوق الاختبار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CE7F3"/>
                </a:solidFill>
                <a:latin typeface="Arial"/>
              </a:rPr>
              <a:t>الحلّ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منظومة تنقّل نسائية</a:t>
            </a:r>
          </a:p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مدعومة بالذكاء الاصطناعي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b="0">
                <a:solidFill>
                  <a:srgbClr val="DCCDEC"/>
                </a:solidFill>
                <a:latin typeface="Arial"/>
              </a:rPr>
              <a:t>ليست تطبيق نقل فحسب، بل بيئة كاملة صُمّمت حول أمان المرأة وخصوصيتها وتمكينها اقتصاديًّا.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CE7F3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تطبيقات متكاملة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237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CE7F3"/>
                </a:solidFill>
                <a:latin typeface="Arial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37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نسائية بالكامل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33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CE7F3"/>
                </a:solidFill>
                <a:latin typeface="Arial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633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ذكاء اصطناعي مدمج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00" b="1">
                <a:solidFill>
                  <a:srgbClr val="FCE7F3"/>
                </a:solidFill>
                <a:latin typeface="Arial"/>
              </a:rPr>
              <a:t>جاهز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نموذج أوّلي يعمل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ثماني مزايا لا يملكها أيّ منافس مجتمعة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الميزة التنافسية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كل ميزة تحلّ مشكلة حقيقية، وأربع منها غير موجودة في السوق السعودي إطلاقًا.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3823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84687" y="2542032"/>
            <a:ext cx="54864" cy="122529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72423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2423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مساعد السفر الذكي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2423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يقترح وجهات بناءً على اهتمامات الراكبة وتاريخ رحلاتها.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6071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6935" y="2542032"/>
            <a:ext cx="54864" cy="122529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4671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671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التسعير الديناميكي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671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سعر شفّاف يعكس الطلب لحظيًّا، ويُعرض قبل التأكيد.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8319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9183" y="2542032"/>
            <a:ext cx="54864" cy="122529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6919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6919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البصمة الكربونية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6919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حساب التوفير في الانبعاثات ومكافآت خضراء للراكبات.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567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21431" y="2542032"/>
            <a:ext cx="54864" cy="122529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167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التقييم المزدوج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تقييم الراكبة والسائقة معًا، حماية متبادلة ترفع الجودة.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3823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84687" y="4416552"/>
            <a:ext cx="54864" cy="122529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2423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👩‍👧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2423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مرافقة الأطفال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2423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سائقات مدرَّبات على تركيب مقاعد الأطفال، لا يقدّمها منافس.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6071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96935" y="4416552"/>
            <a:ext cx="54864" cy="122529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4671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4671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المجموعات المغلقة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4671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رحلات تشاركية خاصّة بين زميلات العمل أو الدراسة.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68319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09183" y="4416552"/>
            <a:ext cx="54864" cy="122529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6919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96919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النقل التشاركي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6919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مشاركة التكلفة بين الراكبات، خفض يصل إلى 60%‏.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567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21431" y="4416552"/>
            <a:ext cx="54864" cy="122529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9167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🗺️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الرحلات السياحية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مسارات معدّة لاستكشاف معالم المدن، شريحة الزائرات.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لا أحد يجمع التخصّص والابتكار معًا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المنافسة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المنافس النسائي الحالي يفتقر للابتكار، والمنافس المبتكر ليس نسائيًّا بالكامل.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847" y="2386584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المنافس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647" y="2386584"/>
            <a:ext cx="1380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الحصّة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7" y="238658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نقطة القوّة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7" y="238658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نقطة الضعف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386584"/>
            <a:ext cx="649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التهديد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7" y="2843784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وصليني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7" y="2843784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~15%‏ نسائيًّا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7" y="2843784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أوّل تطبيق نسائي، 60‏ مدينة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7" y="2843784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بلا ذكاء اصطناعي ولا استدامة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843784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متوسّط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18688"/>
            <a:ext cx="10287000" cy="530352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7" y="3374136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مريني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7" y="3374136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~10%‏ نسائيًّا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7" y="3374136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تركيز على الخصوصية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7" y="3374136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مرحلة تطوير، تركيز ضيّق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374136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منخفض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7" y="3904487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أوبر «سائقات»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7" y="3904487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~5%‏ من أوبر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7" y="3904487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علامة عالمية وشبكة ضخمة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5687" y="3904487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خدمة عامّة لا منصّة نسائية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3904487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مرتفع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279392"/>
            <a:ext cx="10287000" cy="530352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7" y="4434840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كريم · جيني وغيرهما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7" y="4434840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7" y="4434840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تغطية وأسعار تنافسية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7" y="4434840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لا خدمة نسائية حصرية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434840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منخفض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074920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257800"/>
            <a:ext cx="9738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Arial"/>
              </a:rPr>
              <a:t>استراتيجية التفوّق: مزايا حصرية يصعب تقليدها: مرافقة الأطفال، البصمة الكربونية، المجموعات المغلقة</a:t>
            </a:r>
          </a:p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Arial"/>
              </a:rPr>
              <a:t>مع توسّع سريع في المدن الرئيسية قبل أن يتحرّك اللاعبون الكبار.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فرضيات النموّ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أساس الحساب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كل رقم في هذا العرض مشتقّ من هذه الفرضيات، تغييرها يغيّر النتائج بالتناسب.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3172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2432303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المؤشّر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7" y="2432303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1‏، الإطلاق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7" y="2432303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2‏، النموّ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432303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3‏، التوسّع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7" y="2862072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المدن المغطّاة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7" y="2862072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بريدة ثمّ الرياض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7" y="2862072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862072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5 - 7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9544"/>
            <a:ext cx="10287000" cy="475488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3337560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الرحلات سنويًّا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3337560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7" y="3337560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337560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900,000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3813047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مستخدمات نشطات شهريًّا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3813047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1,200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7" y="3813047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813047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160519"/>
            <a:ext cx="10287000" cy="475488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4288535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سائقات نشطة · مسجَّلة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7" y="4288535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40 · 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7" y="4288535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420 · 1,200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4288535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1,250 · 4,000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4764023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متوسّط قيمة الرحلة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7" y="4764023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30‏ ريال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7" y="4764023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30‏ ريال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4764023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30‏ ريال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120640"/>
            <a:ext cx="10287000" cy="868680"/>
          </a:xfrm>
          <a:prstGeom prst="roundRect">
            <a:avLst>
              <a:gd name="adj" fmla="val 1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285232"/>
            <a:ext cx="9738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D28D9"/>
                </a:solidFill>
                <a:latin typeface="Arial"/>
              </a:rPr>
              <a:t>الأرقام مترابطة حسابيًّا: 2.5‏ رحلة شهريًّا لكل مستخدمة نشطة، و60‏ رحلة شهريًّا لكل سائقة نشطة.</a:t>
            </a:r>
          </a:p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D28D9"/>
                </a:solidFill>
                <a:latin typeface="Arial"/>
              </a:rPr>
              <a:t>نبدأ من بريدة في الشهر السابع بدعم حاضنة جامعة القصيم، وندخل الرياض في الشهر العاشر من السنة نفسها.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التكلفة التقنية لكل رحلة تنخفض 92%‏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الأطروحة الاستثمارية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بنية سحابية مُدارة وفريق يكتمل تدريجيًّا: التكلفة تكاد تثبت بينما الرحلات تتضاعف ثلاثين مرّة.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2880" y="2514600"/>
            <a:ext cx="2255520" cy="22402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2880" y="2130552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6D28D9"/>
                </a:solidFill>
                <a:latin typeface="Arial"/>
              </a:rPr>
              <a:t>24‏ ر.س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880" y="4882896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السنة 1‏</a:t>
            </a:r>
          </a:p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30‏ ألف رحلة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0160" y="4288155"/>
            <a:ext cx="2255520" cy="466725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0160" y="3904107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6D28D9"/>
                </a:solidFill>
                <a:latin typeface="Arial"/>
              </a:rPr>
              <a:t>5‏ ر.س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160" y="4882896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السنة 2‏</a:t>
            </a:r>
          </a:p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300‏ ألف رحلة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39" y="4568190"/>
            <a:ext cx="2255520" cy="18669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39" y="4184142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Arial"/>
              </a:rPr>
              <a:t>2‏ ر.س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4882896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السنة 3‏</a:t>
            </a:r>
          </a:p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900‏ ألف رحلة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5532120"/>
            <a:ext cx="5577840" cy="566928"/>
          </a:xfrm>
          <a:prstGeom prst="roundRect">
            <a:avLst>
              <a:gd name="adj" fmla="val 2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5705856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50" b="1">
                <a:solidFill>
                  <a:srgbClr val="EC4899"/>
                </a:solidFill>
                <a:latin typeface="Arial"/>
              </a:rPr>
              <a:t>▼  24‏ ← 2‏ ريال   ·   الميزانية التقنية ÷ عدد الرحلات، بلا تقريب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الميزانية التقنية، ثلاث سنوات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الاستثمار التقني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خدمات سحابية مُدارة بالكامل: لا خوادم مملوكة ولا مراكز بيانات ولا فريق تشغيل.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7" y="2386584"/>
            <a:ext cx="2569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البند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1‏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2‏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3‏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الإجمالي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7" y="2807208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البنية التحتية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15,050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63,000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178,000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256,050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45536"/>
            <a:ext cx="10287000" cy="4572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7" y="3264408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الذكاء الاصطناعي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2,250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116,000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247,000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365,250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7" y="3721608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الفريق التقني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530,600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1,141,600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1,220,500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2,892,700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059935"/>
            <a:ext cx="10287000" cy="4572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7" y="4178807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الأمن والأدوات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100,000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115,000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175,000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390,000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7" y="4636007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احتياطي طوارئ 10%‏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64,790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143,560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152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182,050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390,400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974336"/>
            <a:ext cx="10287000" cy="512064"/>
          </a:xfrm>
          <a:prstGeom prst="rect">
            <a:avLst/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7" y="5056631"/>
            <a:ext cx="2569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الإجمالي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712,690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1,579,160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8152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2,002,550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4,294,400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10287000" cy="6858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687568"/>
            <a:ext cx="9738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EC4899"/>
                </a:solidFill>
                <a:latin typeface="Arial"/>
              </a:rPr>
              <a:t>الفريق يكتمل تدريجيًّا: السنة الأولى بنصف الطاقم، لا نوظّف ثمانية أفراد قبل أن توجد رحلات يخدمونها.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فريق يكتمل مع الطلب، لا قبله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الهيكل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المؤسّسان هما نواة الفريق التقني: قيادة تقنية وتشغيل بلا تكلفة توظيف خارجية.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3172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7" y="2432303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الدور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2432303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متى ينضمّ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2432303"/>
            <a:ext cx="877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العدد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7" y="2432303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السنة 1‏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99" y="2432303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السنة 2‏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432303"/>
            <a:ext cx="1088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السنة 3‏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2852927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قائد تقني: م. مدني، مؤسّس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852927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من الشهر 1‏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852927"/>
            <a:ext cx="877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7" y="2852927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599" y="2852927"/>
            <a:ext cx="1078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277,300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2852927"/>
            <a:ext cx="1088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296,400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191256"/>
            <a:ext cx="10287000" cy="4572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7" y="3310127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مطوّر Full-stack‏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310127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من الشهر 1‏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7" y="3310127"/>
            <a:ext cx="877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7" y="3310127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187,200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599" y="3310127"/>
            <a:ext cx="1078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200,400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3310127"/>
            <a:ext cx="1088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214,200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7" y="376732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مطوّر مساعد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767328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الشهر 4‏ ← 2‏ بالسنة 2‏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7" y="3767328"/>
            <a:ext cx="877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 ←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7" y="37673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86,400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599" y="3767328"/>
            <a:ext cx="1078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246,600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3767328"/>
            <a:ext cx="1088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263,500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105656"/>
            <a:ext cx="10287000" cy="4572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7" y="422452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مطوّر واجهات UI/UX‏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4224528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عقد 6‏ أشهر ← دوام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7" y="4224528"/>
            <a:ext cx="877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3047" y="42245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65,000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599" y="4224528"/>
            <a:ext cx="1078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140,000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4224528"/>
            <a:ext cx="1088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150,000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7" y="468172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E142E"/>
                </a:solidFill>
                <a:latin typeface="Arial"/>
              </a:rPr>
              <a:t>دعم فنّي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4681728"/>
            <a:ext cx="2020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الشهر 6‏ ← 3‏ بالسنة 2‏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3207" y="4681728"/>
            <a:ext cx="877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 ←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3047" y="46817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72,000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599" y="4681728"/>
            <a:ext cx="1078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277,300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7" y="4681728"/>
            <a:ext cx="1088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296,400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5020056"/>
            <a:ext cx="10287000" cy="512064"/>
          </a:xfrm>
          <a:prstGeom prst="rect">
            <a:avLst/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7" y="5102352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الإجمالي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510235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3207" y="5102352"/>
            <a:ext cx="877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6 ← 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3047" y="510235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530,600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599" y="51023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1,141,600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7007" y="5102352"/>
            <a:ext cx="1088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1,220,500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7280" y="5623560"/>
            <a:ext cx="10287000" cy="640080"/>
          </a:xfrm>
          <a:prstGeom prst="roundRect">
            <a:avLst>
              <a:gd name="adj" fmla="val 1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5806440"/>
            <a:ext cx="9738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D28D9"/>
                </a:solidFill>
                <a:latin typeface="Arial"/>
              </a:rPr>
              <a:t>راتب المؤسّس في السنة الأولى مخفَّض إلى 10,000‏ ريال شهريًّا، التزام شخصي برأس المال قبل أن نطلبه من غيرنا.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التعادل في السنة الثانية، والربحية في الثالثة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النموذج المالي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العمولة هي العمود الفقري للإيراد. الأرقام بملايين الريالات، وكل صفّ مشتقّ من فرضيات شريحة أساس الحساب.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4028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42047" y="2340864"/>
            <a:ext cx="4032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المؤشّر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7" y="2340864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1‏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7" y="2340864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2‏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340864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3‏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7" y="2743200"/>
            <a:ext cx="4032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الرحلات سنويًّا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7" y="2743200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7" y="2743200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300,000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743200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900,000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063240"/>
            <a:ext cx="10287000" cy="42062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7" y="3163824"/>
            <a:ext cx="4032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إجمالي قيمة الرحلات GMV‏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7" y="3163824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7" y="3163824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9.00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163824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27.00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7" y="3584448"/>
            <a:ext cx="4032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الإيرادات: عمولة 20%‏ وباقات وخدمات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7" y="3584448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0.25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7" y="3584448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2.25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584448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6.75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904488"/>
            <a:ext cx="10287000" cy="42062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2047" y="4005072"/>
            <a:ext cx="40325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E142E"/>
                </a:solidFill>
                <a:latin typeface="Arial"/>
              </a:rPr>
              <a:t>التكاليف الكلّية: تقنية وتشغيلية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7" y="4005072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1.11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7" y="4005072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2.48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4005072"/>
            <a:ext cx="1792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4.40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325112"/>
            <a:ext cx="10287000" cy="475488"/>
          </a:xfrm>
          <a:prstGeom prst="rect">
            <a:avLst/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7" y="4407408"/>
            <a:ext cx="4032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6D28D9"/>
                </a:solidFill>
                <a:latin typeface="Arial"/>
              </a:rPr>
              <a:t>صافي الربح أو الخسارة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7" y="44074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B4453C"/>
                </a:solidFill>
                <a:latin typeface="Arial"/>
              </a:rPr>
              <a:t>−0.86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7" y="44074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B4453C"/>
                </a:solidFill>
                <a:latin typeface="Arial"/>
              </a:rPr>
              <a:t>−0.23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407408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6D28D9"/>
                </a:solidFill>
                <a:latin typeface="Arial"/>
              </a:rPr>
              <a:t>2.35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49834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4983480"/>
            <a:ext cx="3337560" cy="64008"/>
          </a:xfrm>
          <a:prstGeom prst="rect">
            <a:avLst/>
          </a:prstGeom>
          <a:solidFill>
            <a:srgbClr val="2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17550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2F7A55"/>
                </a:solidFill>
                <a:latin typeface="Arial"/>
              </a:rPr>
              <a:t>السنة 3‏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046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ربحية كاملة بـ2.35‏ مليون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62856" y="49834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856" y="4983480"/>
            <a:ext cx="3337560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62856" y="517550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EC4899"/>
                </a:solidFill>
                <a:latin typeface="Arial"/>
              </a:rPr>
              <a:t>السنة 2‏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2856" y="55046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التعادل في الربع الأخير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1" y="49834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28431" y="4983480"/>
            <a:ext cx="3337560" cy="640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517550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6D28D9"/>
                </a:solidFill>
                <a:latin typeface="Arial"/>
              </a:rPr>
              <a:t>السنة 1‏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1" y="55046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بناء السوق والشبكة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6035040"/>
            <a:ext cx="10287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الخسارة في أوّل سنتين مُقدَّرة ومموَّلة سلفًا، وهي 7%‏ فقط من إجمالي قيمة الرحلات التراكمية.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CE7F3"/>
                </a:solidFill>
                <a:latin typeface="Arial"/>
              </a:rPr>
              <a:t>اقتصاديات الوحدة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2.60‏ ريال هامشًا صافيًا</a:t>
            </a:r>
          </a:p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من كل رحلة في السنة الثالثة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5455" y="39319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1">
                <a:solidFill>
                  <a:srgbClr val="FCE7F3"/>
                </a:solidFill>
                <a:latin typeface="Arial"/>
              </a:rPr>
              <a:t>7.50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47548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إيراد المنصّة من الرحلة · ريال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6455" y="39319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1">
                <a:solidFill>
                  <a:srgbClr val="C9B6DE"/>
                </a:solidFill>
                <a:latin typeface="Arial"/>
              </a:rPr>
              <a:t>4.90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455" y="47548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التكلفة الكلّية للرحلة · ريال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" y="39319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2.60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" y="47548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صافي الهامش · ريال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CE7F3"/>
                </a:solidFill>
                <a:latin typeface="Arial"/>
              </a:rPr>
              <a:t>هامش صافٍ 35%‏، بعد احتساب كامل تكلفة الفريق والبنية والتشغيل والتسويق داخل الرقم، لا قبلها.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«باقة التنقّل»، 149‏ ريال شهريًّا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منتج الولاء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أُعيد تصميم الباقة لتكون رابحة بذاتها: خصم على الرحلات، لا رحلات مجّانية.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676656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7" y="2478024"/>
            <a:ext cx="4718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البند، لمشتركة تنفّذ 16‏ رحلة شهريًّا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4780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المبلغ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7" y="289864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قيمة الرحلات بالسعر المعتاد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8986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480‏ ريال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236976"/>
            <a:ext cx="6766560" cy="4572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7" y="335584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ما تدفعه المشتركة بعد خصم 25%‏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3558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360‏ ريال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7" y="381304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رسوم الاشتراك الشهري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8130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149‏ ريال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151376"/>
            <a:ext cx="6766560" cy="45720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7" y="427024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إجمالي ما يصل المنصّة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2702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509‏ ريال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7" y="472744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E142E"/>
                </a:solidFill>
                <a:latin typeface="Arial"/>
              </a:rPr>
              <a:t>حصّة السائقة، 80%‏ من السعر المعتاد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47274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−384‏ ريال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065776"/>
            <a:ext cx="6766560" cy="512064"/>
          </a:xfrm>
          <a:prstGeom prst="rect">
            <a:avLst/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7" y="5148072"/>
            <a:ext cx="4718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صافي المنصّة شهريًّا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5148072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6D28D9"/>
                </a:solidFill>
                <a:latin typeface="Arial"/>
              </a:rPr>
              <a:t>125‏ ريال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3774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29415" y="2633472"/>
            <a:ext cx="54864" cy="1088136"/>
          </a:xfrm>
          <a:prstGeom prst="rect">
            <a:avLst/>
          </a:prstGeom>
          <a:solidFill>
            <a:srgbClr val="2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63347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906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لماذا هي رابحة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474720"/>
            <a:ext cx="278892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125‏ ريالًا شهريًّا مقابل 96‏ ريالًا فقط من راكبة غير مشتركة تنفّذ العدد نفسه، الباقة تزيد الهامش ولا تأكله.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16052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29415" y="4416552"/>
            <a:ext cx="54864" cy="10881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41655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737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دورها الحقيقي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257800"/>
            <a:ext cx="2788920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أداة ولاء وتدفّق نقدي مقدَّم، لا عمود إيراد: نُقدِّرها بـ4%‏ من المستخدمات النشطات فقط.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715000"/>
            <a:ext cx="6766560" cy="50292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8521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التصميم السابق، 10‏ رحلات مجّانية، كان يخسر 91‏ ريالًا شهريًّا عن كل مشتركة.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خارطة الطريق، مدينتان في السنة الأولى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التنفيذ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نختبر النموذج في بريدة حيث تجاورنا الحاضنة، ثمّ ندخل الرياض بمنتج مُثبَت لا بفرضية.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52760" y="2386584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52760" y="2468880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68296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التأسيس والترخيص الريادي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0487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خطاب تزكية الجامعة، خطاب عدم الممانعة، رخصة «ريادي»، السجل التجاري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9572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EC4899"/>
                </a:solidFill>
                <a:latin typeface="Arial"/>
              </a:rPr>
              <a:t>25,000‏ ريال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852928"/>
            <a:ext cx="10287000" cy="566928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52760" y="2953512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2760" y="303580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2–6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35224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التطوير التقني MVP‏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718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تطبيقات Android‏ و iOS‏، الربط مع منصّة هيئة النقل، واجهات احترافية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6265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EC4899"/>
                </a:solidFill>
                <a:latin typeface="Arial"/>
              </a:rPr>
              <a:t>150,000‏ ريال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2760" y="3520440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60" y="3602736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02152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استقطاب السائقات، بريدة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53872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أوّل 100‏ سائقة وتأهيلهنّ على القيادة الآمنة وخدمة العملاء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5295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EC4899"/>
                </a:solidFill>
                <a:latin typeface="Arial"/>
              </a:rPr>
              <a:t>60,000‏ ريال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986784"/>
            <a:ext cx="10287000" cy="566928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52760" y="4087368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4169664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06908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الإطلاق التجريبي، بريدة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10565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التشغيل مع 50‏ سائقة وجمع الملاحظات الميدانية وتصحيح المسار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096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EC4899"/>
                </a:solidFill>
                <a:latin typeface="Arial"/>
              </a:rPr>
              <a:t>25,000‏ ريال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52760" y="4654296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4736592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8–9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36008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الإطلاق الرسمي، بريدة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67258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حملة موجَّهة بالتعاون مع جامعة القصيم وإطلاق «باقة التنقّل»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663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EC4899"/>
                </a:solidFill>
                <a:latin typeface="Arial"/>
              </a:rPr>
              <a:t>70,000‏ ريال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120640"/>
            <a:ext cx="10287000" cy="566928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52760" y="5221224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5303520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10–12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202936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دخول الرياض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23951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استقطاب 100‏ سائقة وحملة تسويق في أكبر سوق بالمملكة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23036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EC4899"/>
                </a:solidFill>
                <a:latin typeface="Arial"/>
              </a:rPr>
              <a:t>190,000‏ ريال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797296"/>
            <a:ext cx="10287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95274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تكلفة إطلاق المدينتين، عدا الضمان المسترَدّ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9527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500" b="1">
                <a:solidFill>
                  <a:srgbClr val="FCE7F3"/>
                </a:solidFill>
                <a:latin typeface="Arial"/>
              </a:rPr>
              <a:t>520,000‏ ريال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1.5‏ مليون ريال، تمويل حتى التعادل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الطلب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إطلاق المدينتين يحتاج 770‏ ألف ريال؛ والوصول إلى التعادل يحتاج تغطية عجز السنتين الأولى والثانية.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676656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478024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أوجه الاستخدام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4780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المبلغ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47802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النسبة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87578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الضمان المالي لهيئة النقل، مسترَدّ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87578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250,000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87578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17%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191256"/>
            <a:ext cx="6766560" cy="41148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328726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تغطية عجز التشغيل حتى التعادل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28726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545,000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28726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36%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69874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تطوير المنتج والبنية التقنية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6987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250,000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69874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17%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014216"/>
            <a:ext cx="6766560" cy="41148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411022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تسويق بريدة والرياض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411022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180,000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1102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52170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استقطاب السائقات وتأهيلهنّ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452170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140,000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452170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837176"/>
            <a:ext cx="6766560" cy="411480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493318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E142E"/>
                </a:solidFill>
                <a:latin typeface="Arial"/>
              </a:rPr>
              <a:t>التأسيس والتراخيص واحتياطي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93318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135,000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7" y="493318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248656"/>
            <a:ext cx="6766560" cy="466344"/>
          </a:xfrm>
          <a:prstGeom prst="rect">
            <a:avLst/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5330952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6D28D9"/>
                </a:solidFill>
                <a:latin typeface="Arial"/>
              </a:rPr>
              <a:t>الإجمالي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330952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6D28D9"/>
                </a:solidFill>
                <a:latin typeface="Arial"/>
              </a:rPr>
              <a:t>1,500,000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7" y="533095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6D28D9"/>
                </a:solidFill>
                <a:latin typeface="Arial"/>
              </a:rPr>
              <a:t>100%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23774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329415" y="2633472"/>
            <a:ext cx="54864" cy="108813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63347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0906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مصادر الدعم المستهدفة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474720"/>
            <a:ext cx="278892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كفالة · رواد التقنية · بنك التنمية الاجتماعية · حاضنة ابتكار بجامعة القصيم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16052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29415" y="4416552"/>
            <a:ext cx="54864" cy="1088136"/>
          </a:xfrm>
          <a:prstGeom prst="rect">
            <a:avLst/>
          </a:prstGeom>
          <a:solidFill>
            <a:srgbClr val="2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41655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8737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العائد المتوقّع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257800"/>
            <a:ext cx="2788920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استرداد كامل خلال السنة الثالثة، وصافي ربح 2.35‏ مليون ريال في السنة الثالثة وحدها.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715000"/>
            <a:ext cx="6766560" cy="502920"/>
          </a:xfrm>
          <a:prstGeom prst="roundRect">
            <a:avLst>
              <a:gd name="adj" fmla="val 1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58521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الاستنزاف النقدي الفعلي 1.25‏ مليون، إذ يُستردّ الضمان البالغ 250‏ ألفًا.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الترخيص الريادي، مسار رسمي مكتمل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المسار النظامي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رخصة تصدرها وزارة الاستثمار لروّاد الأعمال غير السعوديين: ملكية 100%‏ وإقامة مستقلّة.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16768" y="2404872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8716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865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خطاب التزكية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من مركز الابتكار بجامعة القصيم، الشرط الأهمّ لقبول الطلب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1401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2–4‏ أسابيع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834640"/>
            <a:ext cx="10287000" cy="60350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16768" y="2953512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16768" y="30358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3522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خطاب عدم الممانعة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718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من الكفيل الحالي لتحويل الإقامة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626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2–5‏ أيام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16768" y="3502152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16768" y="35844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8386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رخصة «ريادي»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2044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التقديم عبر بوابة وزارة الاستثمار MISA‏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51129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5–10‏ أيام عمل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931920"/>
            <a:ext cx="10287000" cy="60350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716768" y="4050791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16768" y="4133087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325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تحويل الإقامة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06908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الإقامة الريادية عبر الجوازات، تشمل العائلة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059935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2–4‏ أسابيع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16768" y="4599431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16768" y="4681727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6D28D9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58114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E142E"/>
                </a:solidFill>
                <a:latin typeface="Arial"/>
              </a:rPr>
              <a:t>تأسيس الشركة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61772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السجل التجاري، العلامة التجارية، ترخيص هيئة النقل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608575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3–7‏ أيام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047488"/>
            <a:ext cx="10287000" cy="475488"/>
          </a:xfrm>
          <a:prstGeom prst="roundRect">
            <a:avLst>
              <a:gd name="adj" fmla="val 10000"/>
            </a:avLst>
          </a:prstGeom>
          <a:solidFill>
            <a:srgbClr val="F3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166360"/>
            <a:ext cx="9921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6D28D9"/>
                </a:solidFill>
                <a:latin typeface="Arial"/>
              </a:rPr>
              <a:t>الرسوم الرسمية للتأسيس: رخصة ريادي 2,000‏ · سجل تجاري 1,200‏ · توثيق ونشر عقد التأسيس 500‏ · ضريبة قيمة مضافة 15%‏ · غرفة تجارية 300‏ فأعلى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3823" y="5650992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3823" y="573328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Arial"/>
              </a:rPr>
              <a:t>ملكية 100%‏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3823" y="6016752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00" b="0">
                <a:solidFill>
                  <a:srgbClr val="6E6579"/>
                </a:solidFill>
                <a:latin typeface="Arial"/>
              </a:rPr>
              <a:t>بلا شريك محلّي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56071" y="5650992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6071" y="573328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Arial"/>
              </a:rPr>
              <a:t>2,000‏ ريال/سنة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6071" y="6016752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00" b="0">
                <a:solidFill>
                  <a:srgbClr val="6E6579"/>
                </a:solidFill>
                <a:latin typeface="Arial"/>
              </a:rPr>
              <a:t>رسوم أوّل 3‏ سنوات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68319" y="5650992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68319" y="573328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Arial"/>
              </a:rPr>
              <a:t>إعفاء من نطاقات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68319" y="6016752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00" b="0">
                <a:solidFill>
                  <a:srgbClr val="6E6579"/>
                </a:solidFill>
                <a:latin typeface="Arial"/>
              </a:rPr>
              <a:t>3‏ سنوات تشغيلية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0567" y="5650992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0567" y="573328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EC4899"/>
                </a:solidFill>
                <a:latin typeface="Arial"/>
              </a:rPr>
              <a:t>إقامة عائلية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0567" y="6016752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00" b="0">
                <a:solidFill>
                  <a:srgbClr val="6E6579"/>
                </a:solidFill>
                <a:latin typeface="Arial"/>
              </a:rPr>
              <a:t>الزوج/ة والأبناء والوالدان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أمانة ورؤية 2030‏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التوافق الوطني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المشروع يخدم أربعة مستهدفات وطنية في آنٍ واحد، وهذا ما يجعله مؤهّلًا للدعم.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655" y="233172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2587752"/>
            <a:ext cx="54864" cy="1179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58775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👩‍💼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304495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تمكين المرأة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342900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4,000‏ سائقة مؤهَّلة ومسجَّلة، منهنّ 1,250‏ بدخل نشط بحلول السنة الثالثة.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295" y="233172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73191" y="2587752"/>
            <a:ext cx="54864" cy="1179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8895" y="258775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8895" y="304495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الابتكار التقني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8895" y="342900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ذكاء اصطناعي وتسعير ديناميكي مبنيّ محلّيًّا بكوادر وطنية.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655" y="420624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39551" y="4462272"/>
            <a:ext cx="54864" cy="1179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5255" y="44622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5255" y="491947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الاستدامة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255" y="530352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نقل تشاركي يخفض ~2.5‏ كجم كربون لكل رحلة ويقيسها ويكافئ عليها.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" y="420624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73191" y="4462272"/>
            <a:ext cx="54864" cy="1179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8895" y="44622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1E142E"/>
                </a:solidFill>
                <a:latin typeface="Arial"/>
              </a:rPr>
              <a:t>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8895" y="491947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تنمية المناطق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8895" y="530352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الإطلاق من بريدة يضع القصيم في مقدّمة الخدمة، لا في آخر قائمة التوسّع.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EC4899"/>
                </a:solidFill>
                <a:latin typeface="Arial"/>
              </a:rPr>
              <a:t>إدارة المخاطر، لكل احتمال خطّة بديلة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6D28D9"/>
                </a:solidFill>
                <a:latin typeface="Arial"/>
              </a:rPr>
              <a:t>الحوكمة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لا نعرض المخاطر فحسب، بل نعرض ما سنفعله فعليًّا إن تحقّقت.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10287000" cy="4023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7" y="238658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المخاطرة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2386584"/>
            <a:ext cx="34838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استراتيجية التخفيف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86584"/>
            <a:ext cx="3529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خطّة الطوارئ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7" y="2834640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سوقية، تباطؤ النموّ في إحدى المدينتين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834640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مدينتان مختلفتان في الحجم والسلوك، لا رهان على سوق واحد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834640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تحويل الميزانية والسائقات إلى المدينة الأسرع استجابة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00400"/>
            <a:ext cx="10287000" cy="51206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7" y="3346704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قانونية، رفض التزكية أو الترخيص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346704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تواصل مبكر مع الجهات، ومستشار قانوني مدرج في الميزانية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346704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حاضنات بديلة، واعد أو مسك، أو شريك سعودي، أو تأشيرة استثمارية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3858768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مالية، تجاوز التكاليف أو نقص الإيراد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858768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احتياطي 10%‏، وتوظيف تدريجي يجعل أكبر بند تكلفة قابلًا للتأجيل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858768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تأجيل التوظيف وخفض المصاريف والتركيز على النموّ العضوي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224528"/>
            <a:ext cx="10287000" cy="51206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7" y="4370832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تشغيلية، نقص السائقات أو ضعف الجودة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370832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حوافز ذروة، تدريب مكثّف قبل الإطلاق، تقييم فوري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370832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عروض تشجيعية للسائقات والتعاقد مع شركات توظيف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7" y="4882896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تنافسية، دخول لاعب أكبر تمويلًا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882896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مزايا حصرية يصعب تقليدها ومجتمع نسائي مغلق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882896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تسريع التوسّع للمدن الرئيسية والتمايز بالميزات المجتمعية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248656"/>
            <a:ext cx="10287000" cy="512064"/>
          </a:xfrm>
          <a:prstGeom prst="rect">
            <a:avLst/>
          </a:prstGeom>
          <a:solidFill>
            <a:srgbClr val="F6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7" y="5394960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تنظيمية، ارتفاع رسوم الرخصة بعد الإعفاء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5394960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الإعفاء يغطّي السنوات الثلاث الأولى، وهي كامل مدى هذه الخطة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5394960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الرسوم بعدها تُحتسب من إيراد السنة الثالثة، لا من رأس المال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7" y="5907024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1">
                <a:solidFill>
                  <a:srgbClr val="1E142E"/>
                </a:solidFill>
                <a:latin typeface="Arial"/>
              </a:rPr>
              <a:t>تقنية، تعطّل أو اختراق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5907024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بنية سحابية مُدارة، نسخ احتياطي يومي، اختبار اختراق سنوي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907024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دعم فنّي على مدار الساعة واستعادة من النسخ الاحتياطية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CE7F3"/>
                </a:solidFill>
                <a:latin typeface="Arial"/>
              </a:rPr>
              <a:t>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لماذا أمانة، ولماذا الآن؟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CE7F3"/>
                </a:solidFill>
                <a:latin typeface="Arial"/>
              </a:rPr>
              <a:t>◆  السوق مفتوح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8135" y="36118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لا منافس نسائي متكامل في المملكة حتى اليوم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015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CE7F3"/>
                </a:solidFill>
                <a:latin typeface="Arial"/>
              </a:rPr>
              <a:t>◆  المنتج جاهز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" y="36118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نموذج أوّلي يعمل فعليًّا، ليس فكرة على ورق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CE7F3"/>
                </a:solidFill>
                <a:latin typeface="Arial"/>
              </a:rPr>
              <a:t>◆  الاقتصاد سليم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135" y="48920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هامش صافٍ 35%‏ للرحلة وتعادل في السنة الثانية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015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CE7F3"/>
                </a:solidFill>
                <a:latin typeface="Arial"/>
              </a:rPr>
              <a:t>◆  التوقيت مثالي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6055" y="48920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رؤية 2030‏ وبرامج الدعم في ذروة تفعيلها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· دراسة جدوى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mana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05156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4600" b="1">
                <a:solidFill>
                  <a:srgbClr val="6D28D9"/>
                </a:solidFill>
                <a:latin typeface="Arial"/>
              </a:rPr>
              <a:t>أمانة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900" b="0">
                <a:solidFill>
                  <a:srgbClr val="6E6579"/>
                </a:solidFill>
                <a:latin typeface="Arial"/>
              </a:rPr>
              <a:t>رحلتكِ… بأمان وراحة تامّة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206240"/>
            <a:ext cx="5943600" cy="36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4572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م. مدني كمال مدني حميدة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560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00966579597906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303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1">
                <a:solidFill>
                  <a:srgbClr val="6D28D9"/>
                </a:solidFill>
                <a:latin typeface="Arial"/>
              </a:rPr>
              <a:t>medani7@gmail.com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E142E"/>
                </a:solidFill>
                <a:latin typeface="Arial"/>
              </a:rPr>
              <a:t>م. عصمت عمر إبراهيم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560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00966533362837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03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1">
                <a:solidFill>
                  <a:srgbClr val="6D28D9"/>
                </a:solidFill>
                <a:latin typeface="Arial"/>
              </a:rPr>
              <a:t>esmat369@hotmail.com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